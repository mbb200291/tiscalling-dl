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307" r:id="rId3"/>
    <p:sldId id="304" r:id="rId4"/>
    <p:sldId id="308" r:id="rId5"/>
    <p:sldId id="309" r:id="rId6"/>
    <p:sldId id="310" r:id="rId7"/>
    <p:sldId id="317" r:id="rId8"/>
    <p:sldId id="311" r:id="rId9"/>
    <p:sldId id="318" r:id="rId10"/>
    <p:sldId id="314" r:id="rId11"/>
    <p:sldId id="320" r:id="rId12"/>
    <p:sldId id="312" r:id="rId13"/>
    <p:sldId id="313" r:id="rId14"/>
    <p:sldId id="321" r:id="rId15"/>
    <p:sldId id="319" r:id="rId16"/>
    <p:sldId id="305" r:id="rId17"/>
    <p:sldId id="322" r:id="rId18"/>
    <p:sldId id="315" r:id="rId19"/>
    <p:sldId id="323" r:id="rId20"/>
    <p:sldId id="327" r:id="rId21"/>
    <p:sldId id="330" r:id="rId22"/>
    <p:sldId id="328" r:id="rId23"/>
    <p:sldId id="336" r:id="rId24"/>
    <p:sldId id="324" r:id="rId25"/>
    <p:sldId id="325" r:id="rId26"/>
    <p:sldId id="332" r:id="rId27"/>
    <p:sldId id="334" r:id="rId28"/>
    <p:sldId id="326" r:id="rId29"/>
    <p:sldId id="329" r:id="rId30"/>
    <p:sldId id="335" r:id="rId31"/>
    <p:sldId id="333" r:id="rId3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17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9BBB10-E67C-2B46-98EF-798256E28097}" v="181" dt="2026-06-17T07:17:00.1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/>
    <p:restoredTop sz="95007"/>
  </p:normalViewPr>
  <p:slideViewPr>
    <p:cSldViewPr snapToGrid="0" showGuides="1">
      <p:cViewPr varScale="1">
        <p:scale>
          <a:sx n="96" d="100"/>
          <a:sy n="96" d="100"/>
        </p:scale>
        <p:origin x="176" y="552"/>
      </p:cViewPr>
      <p:guideLst>
        <p:guide orient="horz" pos="2115"/>
        <p:guide pos="175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6D8FFE-8BBA-8F4C-86CD-3DE213458A58}" type="datetimeFigureOut">
              <a:rPr kumimoji="1" lang="zh-TW" altLang="en-US" smtClean="0"/>
              <a:t>2026/9/3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A9E37-E576-C541-BF48-551EBB3C4C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8183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7A9E37-E576-C541-BF48-551EBB3C4CC9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9488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7A9E37-E576-C541-BF48-551EBB3C4CC9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07668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2D71C-D8CB-5E96-2BCB-4CF47BD4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D0A22CC-C732-8D2D-8EE0-1D5F97049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44E149C-B2A2-EAB1-2626-43E309D22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B9179E-82AE-E3DA-E620-5E862DF67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7A9E37-E576-C541-BF48-551EBB3C4CC9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12815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C324A1-11B5-AC60-FF33-125ACFC73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B739206-CFCE-7573-ADF8-D040CD5FC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E7CB4B-592A-0F88-F904-F0D8BF23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932E-DC4B-5542-A282-3CA77C71E547}" type="datetimeFigureOut">
              <a:rPr kumimoji="1" lang="zh-TW" altLang="en-US" smtClean="0"/>
              <a:t>2026/9/3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5DCFA7-2E7E-305A-94C4-5F8BC9A1B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2B4809-CF60-9A32-9AE1-1F3F8767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FDB7-3C5C-9C4A-9AB0-0C0FA6745F8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642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9BB434-DDB5-EB44-0438-13EEAFC42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BD27A8-09BB-F6E3-E297-6D5F72CDB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06EB4E-4D13-92E1-E1B4-53F9B926B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932E-DC4B-5542-A282-3CA77C71E547}" type="datetimeFigureOut">
              <a:rPr kumimoji="1" lang="zh-TW" altLang="en-US" smtClean="0"/>
              <a:t>2026/9/3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08C07E-2E31-15FA-7DE4-D1064C4AA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F61CE9-7A2F-2525-6F3B-C55A9D31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FDB7-3C5C-9C4A-9AB0-0C0FA6745F8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4591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05EBC1-3AEE-9087-F3CA-DECC7F9F0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987E6B-1AF9-FA1D-1559-E657C0EF5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0C1671-B8B2-BB08-2438-261FF6D7B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932E-DC4B-5542-A282-3CA77C71E547}" type="datetimeFigureOut">
              <a:rPr kumimoji="1" lang="zh-TW" altLang="en-US" smtClean="0"/>
              <a:t>2026/9/3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31753C-DB90-568E-C6E9-FDADF5F7D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AF7C78-39F4-87C6-A34A-D56F40804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FDB7-3C5C-9C4A-9AB0-0C0FA6745F8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96549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7A0F67-2D5C-4CB7-0D9B-A0FCC5059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03F803-3607-DD55-049D-60D20CCD0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93CCD00-2D2B-4FB5-4A26-A6CC88CCD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A19E37-AEC5-4038-141B-B94F3900F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932E-DC4B-5542-A282-3CA77C71E547}" type="datetimeFigureOut">
              <a:rPr kumimoji="1" lang="zh-TW" altLang="en-US" smtClean="0"/>
              <a:t>2026/9/3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E3263DF-8734-CBF1-515F-14025172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E6E7EA-2F0D-4EB1-9ACA-B3B452C1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FDB7-3C5C-9C4A-9AB0-0C0FA6745F8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92834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B7498E-BEEC-6719-27E2-6614FCA56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0816BA-F350-4176-F7D6-0170E37F9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B03489B-79F1-B801-4A3C-653B4D1AB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D86D8B9-A040-1C49-F489-A15DB90DD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3DD1D75-C6C9-D91E-F9EB-B868E1AC3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AC56548-8855-0C9F-6523-66D3F2234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932E-DC4B-5542-A282-3CA77C71E547}" type="datetimeFigureOut">
              <a:rPr kumimoji="1" lang="zh-TW" altLang="en-US" smtClean="0"/>
              <a:t>2026/9/3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3628BF4-CD4C-FA0A-D92C-0DE43CB5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7898E4C-5593-C755-C377-32933AAE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FDB7-3C5C-9C4A-9AB0-0C0FA6745F8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7943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BE250F-A202-B220-8C87-0BE48209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6CF6E7F-9DF5-F4E6-74F4-FC823C6FF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932E-DC4B-5542-A282-3CA77C71E547}" type="datetimeFigureOut">
              <a:rPr kumimoji="1" lang="zh-TW" altLang="en-US" smtClean="0"/>
              <a:t>2026/9/3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D276170-1EAA-8173-B49D-4C938CB8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6F8FC50-AE45-FF27-7C4C-C5024070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FDB7-3C5C-9C4A-9AB0-0C0FA6745F8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82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85761EA-0B03-60F3-02EF-B7E910930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932E-DC4B-5542-A282-3CA77C71E547}" type="datetimeFigureOut">
              <a:rPr kumimoji="1" lang="zh-TW" altLang="en-US" smtClean="0"/>
              <a:t>2026/9/3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B8ED073-2F40-A1C4-C621-C70626257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EFEF8D-7C3A-D701-5834-A78323706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FDB7-3C5C-9C4A-9AB0-0C0FA6745F8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25553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7F37DD-BEB7-2AFD-1512-A64A2BCC5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1AD98D-6C25-74F0-91D1-21EB12BE6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6D4B126-D780-0CBF-A86C-50FF815A2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59674A6-2C6F-3AA4-2CB8-5910C821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932E-DC4B-5542-A282-3CA77C71E547}" type="datetimeFigureOut">
              <a:rPr kumimoji="1" lang="zh-TW" altLang="en-US" smtClean="0"/>
              <a:t>2026/9/3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17ED9C0-D9BE-17EF-2848-7F0A4B8EB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81C5F22-0675-C7B0-D60D-3ED22A1D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FDB7-3C5C-9C4A-9AB0-0C0FA6745F8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01926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25FC48-5355-D19C-F3A9-483ADD737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5EB3B75-889E-5C83-6ECD-E9D85FBA1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23D0FEC-7E1C-DBC5-FFA7-6D99EDB2E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BA26C0D-C928-298F-1F7A-FB1E268FB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932E-DC4B-5542-A282-3CA77C71E547}" type="datetimeFigureOut">
              <a:rPr kumimoji="1" lang="zh-TW" altLang="en-US" smtClean="0"/>
              <a:t>2026/9/3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515192-72B4-8742-68D0-61438BC3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EA0912-962F-5749-B02B-7F71A86A2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FDB7-3C5C-9C4A-9AB0-0C0FA6745F8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0697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B634F7-673C-C5DF-BA0E-A881700E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32A8E90-FAB5-C8AE-0E2A-13050B67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BF2E23-DDB1-D47A-9DDC-C95E3F3FB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932E-DC4B-5542-A282-3CA77C71E547}" type="datetimeFigureOut">
              <a:rPr kumimoji="1" lang="zh-TW" altLang="en-US" smtClean="0"/>
              <a:t>2026/9/3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3D9B08-B5AC-5CA1-89B3-4D4E9B666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DA6A42-F36B-B1DB-689E-B00705C24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FDB7-3C5C-9C4A-9AB0-0C0FA6745F8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08488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4DC6400-EE34-873B-DA95-D1C3D6147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4EDECB6-AB57-2D83-CD07-F6FC97BF6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850D83-F7EA-71F2-56C3-960BD2B5E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0932E-DC4B-5542-A282-3CA77C71E547}" type="datetimeFigureOut">
              <a:rPr kumimoji="1" lang="zh-TW" altLang="en-US" smtClean="0"/>
              <a:t>2026/9/3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69B67B-3A34-80D0-A49C-937AD935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68423F-1F1D-D999-1F81-EB4AFB569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FDB7-3C5C-9C4A-9AB0-0C0FA6745F8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50425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D2DDA00-9C8A-AD33-718D-77D6A272E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CC0BC2-E349-7DFC-C783-1652E503B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08AFF2-61C3-87DF-9683-8881DEDA7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0932E-DC4B-5542-A282-3CA77C71E547}" type="datetimeFigureOut">
              <a:rPr kumimoji="1" lang="zh-TW" altLang="en-US" smtClean="0"/>
              <a:t>2026/9/3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BBACC2-4CC1-FE98-FC47-F06C40861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8425AD-E16F-33A1-3C32-AB44C7D80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4FDB7-3C5C-9C4A-9AB0-0C0FA6745F8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6869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enmr/TISCalling/tree/main/input_dat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8E9331-61B6-AA3B-CC3B-8341B612D2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Progress Report – Model for TIS Identification by mRNA Sequence</a:t>
            </a:r>
            <a:endParaRPr kumimoji="1"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FB526C5-8D97-58DE-3BE8-B5EF9F4064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TW" altLang="en-US" dirty="0"/>
              <a:t>邦齊</a:t>
            </a:r>
            <a:endParaRPr kumimoji="1" lang="en-US" altLang="zh-TW" dirty="0"/>
          </a:p>
          <a:p>
            <a:r>
              <a:rPr kumimoji="1" lang="en-US" altLang="zh-TW" dirty="0"/>
              <a:t>2026/05/25 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3766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76F78F-1CA0-B588-96CE-57F86940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Idea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0D126A-ACC5-77A4-7A31-2B3B13A16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080"/>
            <a:ext cx="10515600" cy="4351338"/>
          </a:xfrm>
        </p:spPr>
        <p:txBody>
          <a:bodyPr/>
          <a:lstStyle/>
          <a:p>
            <a:r>
              <a:rPr kumimoji="1" lang="en-US" altLang="zh-TW" dirty="0"/>
              <a:t>Using sequential-based deep learning </a:t>
            </a:r>
            <a:r>
              <a:rPr lang="en-US" altLang="zh-TW" dirty="0"/>
              <a:t>architectures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Less feature engineering</a:t>
            </a:r>
          </a:p>
          <a:p>
            <a:pPr lvl="1"/>
            <a:r>
              <a:rPr kumimoji="1" lang="en-US" altLang="zh-TW" dirty="0"/>
              <a:t>Capable to find out long distance cis-element regulation</a:t>
            </a:r>
          </a:p>
          <a:p>
            <a:r>
              <a:rPr kumimoji="1" lang="en-US" altLang="zh-TW" dirty="0"/>
              <a:t>Leverage pre-trained RNA foundation model</a:t>
            </a:r>
          </a:p>
          <a:p>
            <a:r>
              <a:rPr kumimoji="1" lang="en-US" altLang="zh-TW" dirty="0"/>
              <a:t>Roadmap</a:t>
            </a:r>
          </a:p>
          <a:p>
            <a:pPr lvl="1"/>
            <a:r>
              <a:rPr kumimoji="1" lang="en-US" altLang="zh-TW" dirty="0"/>
              <a:t>RNN </a:t>
            </a:r>
            <a:r>
              <a:rPr kumimoji="1" lang="en-US" altLang="zh-TW" dirty="0">
                <a:sym typeface="Wingdings" pitchFamily="2" charset="2"/>
              </a:rPr>
              <a:t></a:t>
            </a:r>
            <a:r>
              <a:rPr kumimoji="1" lang="en-US" altLang="zh-TW" dirty="0"/>
              <a:t> Transformer </a:t>
            </a:r>
            <a:r>
              <a:rPr kumimoji="1" lang="en-US" altLang="zh-TW" dirty="0">
                <a:sym typeface="Wingdings" pitchFamily="2" charset="2"/>
              </a:rPr>
              <a:t></a:t>
            </a:r>
            <a:r>
              <a:rPr kumimoji="1" lang="en-US" altLang="zh-TW" dirty="0"/>
              <a:t> Embed Token by Pretrained Model </a:t>
            </a:r>
            <a:r>
              <a:rPr kumimoji="1" lang="en-US" altLang="zh-TW" dirty="0">
                <a:sym typeface="Wingdings" pitchFamily="2" charset="2"/>
              </a:rPr>
              <a:t> Fine-tuning on </a:t>
            </a:r>
            <a:r>
              <a:rPr kumimoji="1" lang="en-US" altLang="zh-TW" dirty="0"/>
              <a:t>Pretrained RNA Model </a:t>
            </a:r>
          </a:p>
          <a:p>
            <a:pPr lvl="1"/>
            <a:r>
              <a:rPr kumimoji="1" lang="en-US" altLang="zh-TW" dirty="0">
                <a:sym typeface="Wingdings" pitchFamily="2" charset="2"/>
              </a:rPr>
              <a:t> </a:t>
            </a:r>
            <a:r>
              <a:rPr kumimoji="1" lang="en-US" altLang="zh-TW" dirty="0"/>
              <a:t>Explaining (sequence pattern) </a:t>
            </a:r>
          </a:p>
          <a:p>
            <a:pPr lvl="1"/>
            <a:r>
              <a:rPr kumimoji="1" lang="en-US" altLang="zh-TW" dirty="0">
                <a:sym typeface="Wingdings" pitchFamily="2" charset="2"/>
              </a:rPr>
              <a:t> Sequence Generation</a:t>
            </a:r>
          </a:p>
          <a:p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37501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8F229A-5B5A-30A3-49D5-254BC369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Conclusions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50AC97-587A-13C0-1A55-B4BC46009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End-to-End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deep-learning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Based</a:t>
            </a:r>
            <a:r>
              <a:rPr kumimoji="1" lang="zh-TW" altLang="en-US" dirty="0"/>
              <a:t> </a:t>
            </a:r>
            <a:r>
              <a:rPr kumimoji="1" lang="en-US" altLang="zh-TW" dirty="0"/>
              <a:t>sequential</a:t>
            </a:r>
            <a:r>
              <a:rPr kumimoji="1" lang="zh-TW" altLang="en-US" dirty="0"/>
              <a:t> </a:t>
            </a:r>
            <a:r>
              <a:rPr kumimoji="1" lang="en-US" altLang="zh-TW" dirty="0"/>
              <a:t>model</a:t>
            </a:r>
            <a:r>
              <a:rPr kumimoji="1" lang="zh-TW" altLang="en-US" dirty="0"/>
              <a:t> </a:t>
            </a:r>
            <a:r>
              <a:rPr kumimoji="1" lang="en-US" altLang="zh-TW" dirty="0"/>
              <a:t>can</a:t>
            </a:r>
            <a:r>
              <a:rPr kumimoji="1" lang="zh-TW" altLang="en-US" dirty="0"/>
              <a:t> </a:t>
            </a:r>
            <a:r>
              <a:rPr kumimoji="1" lang="en-US" altLang="zh-TW" dirty="0"/>
              <a:t>achieve</a:t>
            </a:r>
            <a:r>
              <a:rPr kumimoji="1" lang="zh-TW" altLang="en-US" dirty="0"/>
              <a:t> </a:t>
            </a:r>
            <a:r>
              <a:rPr kumimoji="1" lang="en-US" altLang="zh-TW" dirty="0"/>
              <a:t>comparable</a:t>
            </a:r>
            <a:r>
              <a:rPr kumimoji="1" lang="zh-TW" altLang="en-US" dirty="0"/>
              <a:t> </a:t>
            </a:r>
            <a:r>
              <a:rPr kumimoji="1" lang="en-US" altLang="zh-TW" dirty="0"/>
              <a:t>result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traditional</a:t>
            </a:r>
            <a:r>
              <a:rPr kumimoji="1" lang="zh-TW" altLang="en-US" dirty="0"/>
              <a:t> </a:t>
            </a:r>
            <a:r>
              <a:rPr kumimoji="1" lang="en-US" altLang="zh-TW" dirty="0"/>
              <a:t>machine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with</a:t>
            </a:r>
            <a:r>
              <a:rPr kumimoji="1" lang="zh-TW" altLang="en-US" dirty="0"/>
              <a:t> </a:t>
            </a:r>
            <a:r>
              <a:rPr kumimoji="1" lang="en-US" altLang="zh-TW" dirty="0"/>
              <a:t>extensive</a:t>
            </a:r>
            <a:r>
              <a:rPr kumimoji="1" lang="zh-TW" altLang="en-US" dirty="0"/>
              <a:t> </a:t>
            </a:r>
            <a:r>
              <a:rPr kumimoji="1" lang="en-US" altLang="zh-TW" dirty="0"/>
              <a:t>feature</a:t>
            </a:r>
            <a:r>
              <a:rPr kumimoji="1" lang="zh-TW" altLang="en-US" dirty="0"/>
              <a:t> </a:t>
            </a:r>
            <a:r>
              <a:rPr kumimoji="1" lang="en-US" altLang="zh-TW" dirty="0"/>
              <a:t>engineering</a:t>
            </a:r>
          </a:p>
          <a:p>
            <a:r>
              <a:rPr kumimoji="1" lang="en-US" altLang="zh-TW" dirty="0"/>
              <a:t>Fine-tuning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on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pretrained</a:t>
            </a:r>
            <a:r>
              <a:rPr kumimoji="1" lang="zh-TW" altLang="en-US" dirty="0"/>
              <a:t> </a:t>
            </a:r>
            <a:r>
              <a:rPr kumimoji="1" lang="en-US" altLang="zh-TW" dirty="0"/>
              <a:t>RNA</a:t>
            </a:r>
            <a:r>
              <a:rPr kumimoji="1" lang="zh-TW" altLang="en-US" dirty="0"/>
              <a:t> </a:t>
            </a:r>
            <a:r>
              <a:rPr kumimoji="1" lang="en-US" altLang="zh-TW" dirty="0"/>
              <a:t>foundation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model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TIS</a:t>
            </a:r>
            <a:r>
              <a:rPr kumimoji="1" lang="zh-TW" altLang="en-US" dirty="0"/>
              <a:t> </a:t>
            </a:r>
            <a:r>
              <a:rPr kumimoji="1" lang="en-US" altLang="zh-TW" dirty="0"/>
              <a:t>classification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task</a:t>
            </a:r>
            <a:r>
              <a:rPr kumimoji="1" lang="zh-TW" altLang="en-US" dirty="0"/>
              <a:t> </a:t>
            </a:r>
            <a:r>
              <a:rPr kumimoji="1" lang="en-US" altLang="zh-TW" dirty="0"/>
              <a:t>show</a:t>
            </a:r>
            <a:r>
              <a:rPr kumimoji="1" lang="zh-TW" altLang="en-US" dirty="0"/>
              <a:t> </a:t>
            </a:r>
            <a:r>
              <a:rPr kumimoji="1" lang="en-US" altLang="zh-TW" dirty="0"/>
              <a:t>potential</a:t>
            </a:r>
            <a:r>
              <a:rPr kumimoji="1" lang="zh-TW" altLang="en-US" dirty="0"/>
              <a:t> </a:t>
            </a:r>
            <a:r>
              <a:rPr kumimoji="1" lang="en-US" altLang="zh-TW" dirty="0"/>
              <a:t>efficacy</a:t>
            </a:r>
            <a:r>
              <a:rPr kumimoji="1" lang="zh-TW" altLang="en-US" dirty="0"/>
              <a:t> </a:t>
            </a:r>
            <a:r>
              <a:rPr kumimoji="1" lang="en-US" altLang="zh-TW" dirty="0"/>
              <a:t>on</a:t>
            </a:r>
            <a:r>
              <a:rPr kumimoji="1" lang="zh-TW" altLang="en-US" dirty="0"/>
              <a:t> </a:t>
            </a:r>
            <a:r>
              <a:rPr kumimoji="1" lang="en-US" altLang="zh-TW" dirty="0"/>
              <a:t>End-to-End</a:t>
            </a:r>
            <a:r>
              <a:rPr kumimoji="1" lang="zh-TW" altLang="en-US" dirty="0"/>
              <a:t> </a:t>
            </a:r>
            <a:r>
              <a:rPr kumimoji="1" lang="en-US" altLang="zh-TW" dirty="0"/>
              <a:t>modeling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TIS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prediction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task</a:t>
            </a:r>
          </a:p>
          <a:p>
            <a:r>
              <a:rPr kumimoji="1" lang="en-US" altLang="zh-TW" dirty="0"/>
              <a:t>Larger</a:t>
            </a:r>
            <a:r>
              <a:rPr kumimoji="1" lang="zh-TW" altLang="en-US" dirty="0"/>
              <a:t> </a:t>
            </a:r>
            <a:r>
              <a:rPr kumimoji="1" lang="en-US" altLang="zh-TW" dirty="0"/>
              <a:t>Parameters</a:t>
            </a:r>
            <a:r>
              <a:rPr kumimoji="1" lang="zh-TW" altLang="en-US" dirty="0"/>
              <a:t> </a:t>
            </a:r>
            <a:r>
              <a:rPr kumimoji="1" lang="en-US" altLang="zh-TW" dirty="0"/>
              <a:t>and</a:t>
            </a:r>
            <a:r>
              <a:rPr kumimoji="1" lang="zh-TW" altLang="en-US" dirty="0"/>
              <a:t> </a:t>
            </a:r>
            <a:r>
              <a:rPr kumimoji="1" lang="en-US" altLang="zh-TW" dirty="0"/>
              <a:t>larger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context</a:t>
            </a:r>
            <a:r>
              <a:rPr kumimoji="1" lang="zh-TW" altLang="en-US" dirty="0"/>
              <a:t> </a:t>
            </a:r>
            <a:r>
              <a:rPr kumimoji="1" lang="en-US" altLang="zh-TW" dirty="0"/>
              <a:t>show</a:t>
            </a:r>
            <a:r>
              <a:rPr kumimoji="1" lang="zh-TW" altLang="en-US" dirty="0"/>
              <a:t> </a:t>
            </a:r>
            <a:r>
              <a:rPr kumimoji="1" lang="en-US" altLang="zh-TW" dirty="0"/>
              <a:t>better</a:t>
            </a:r>
            <a:r>
              <a:rPr kumimoji="1" lang="zh-TW" altLang="en-US" dirty="0"/>
              <a:t> </a:t>
            </a:r>
            <a:r>
              <a:rPr kumimoji="1" lang="en-US" altLang="zh-TW" dirty="0"/>
              <a:t>performance</a:t>
            </a:r>
            <a:r>
              <a:rPr kumimoji="1" lang="zh-TW" altLang="en-US" dirty="0"/>
              <a:t> </a:t>
            </a:r>
            <a:r>
              <a:rPr kumimoji="1" lang="en-US" altLang="zh-TW" dirty="0"/>
              <a:t>on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prediction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TIS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088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F296D3-C8D1-FAC5-4E7C-AD7EDCBD7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Dataset</a:t>
            </a:r>
            <a:endParaRPr kumimoji="1"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99F8A7B-8701-469F-3587-F93BF931D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183278"/>
              </p:ext>
            </p:extLst>
          </p:nvPr>
        </p:nvGraphicFramePr>
        <p:xfrm>
          <a:off x="1085822" y="2690061"/>
          <a:ext cx="10515600" cy="2674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724">
                  <a:extLst>
                    <a:ext uri="{9D8B030D-6E8A-4147-A177-3AD203B41FA5}">
                      <a16:colId xmlns:a16="http://schemas.microsoft.com/office/drawing/2014/main" val="184521617"/>
                    </a:ext>
                  </a:extLst>
                </a:gridCol>
                <a:gridCol w="1514438">
                  <a:extLst>
                    <a:ext uri="{9D8B030D-6E8A-4147-A177-3AD203B41FA5}">
                      <a16:colId xmlns:a16="http://schemas.microsoft.com/office/drawing/2014/main" val="3513255253"/>
                    </a:ext>
                  </a:extLst>
                </a:gridCol>
                <a:gridCol w="7552438">
                  <a:extLst>
                    <a:ext uri="{9D8B030D-6E8A-4147-A177-3AD203B41FA5}">
                      <a16:colId xmlns:a16="http://schemas.microsoft.com/office/drawing/2014/main" val="4178562746"/>
                    </a:ext>
                  </a:extLst>
                </a:gridCol>
              </a:tblGrid>
              <a:tr h="545233">
                <a:tc>
                  <a:txBody>
                    <a:bodyPr/>
                    <a:lstStyle/>
                    <a:p>
                      <a:r>
                        <a:rPr lang="en-US" altLang="zh-TW" dirty="0"/>
                        <a:t>Category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Size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178753"/>
                  </a:ext>
                </a:extLst>
              </a:tr>
              <a:tr h="937541">
                <a:tc>
                  <a:txBody>
                    <a:bodyPr/>
                    <a:lstStyle/>
                    <a:p>
                      <a:r>
                        <a:rPr lang="en-US" altLang="zh-TW" dirty="0"/>
                        <a:t>True Positive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4394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TIS identified by Ribosome Profiling data (determined by ZTNB), intersect TIS by both bio-replicates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237102"/>
                  </a:ext>
                </a:extLst>
              </a:tr>
              <a:tr h="1191734">
                <a:tc>
                  <a:txBody>
                    <a:bodyPr/>
                    <a:lstStyle/>
                    <a:p>
                      <a:r>
                        <a:rPr lang="en-US" altLang="zh-TW" dirty="0"/>
                        <a:t>True Negative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29877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“These sites were located upstream of the most downstream TP TIS within the same transcript and were not marked as TP TISs” (Yen, 2025)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14384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AEFEA43A-8CBC-BF81-7229-6677A211E27A}"/>
              </a:ext>
            </a:extLst>
          </p:cNvPr>
          <p:cNvSpPr txBox="1"/>
          <p:nvPr/>
        </p:nvSpPr>
        <p:spPr>
          <a:xfrm>
            <a:off x="3797571" y="5500138"/>
            <a:ext cx="6163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Note: it is possible multiple TIS from same transcript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E147B72-6DE6-792F-9C63-D1CD89FA1E2E}"/>
              </a:ext>
            </a:extLst>
          </p:cNvPr>
          <p:cNvSpPr txBox="1"/>
          <p:nvPr/>
        </p:nvSpPr>
        <p:spPr>
          <a:xfrm>
            <a:off x="5501068" y="619198"/>
            <a:ext cx="6100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2"/>
              </a:rPr>
              <a:t>TISCalling/input_data at main · yenmr/TISCalling · GitHub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7981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C3D97D-6A94-FF61-7575-FC4E5DCB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Model Training Goal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813EE2-7829-04A4-F90C-CBBED0523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One model for all TIS candidate (UTR/CDS, cognate/near-cognate)</a:t>
            </a:r>
          </a:p>
          <a:p>
            <a:r>
              <a:rPr kumimoji="1" lang="en-US" altLang="zh-TW" dirty="0"/>
              <a:t>Maximize</a:t>
            </a:r>
            <a:r>
              <a:rPr kumimoji="1" lang="zh-TW" altLang="en-US" dirty="0"/>
              <a:t> </a:t>
            </a:r>
            <a:r>
              <a:rPr kumimoji="1" lang="en-US" altLang="zh-TW" dirty="0"/>
              <a:t>AUPR</a:t>
            </a:r>
            <a:r>
              <a:rPr kumimoji="1" lang="zh-TW" altLang="en-US" dirty="0"/>
              <a:t> </a:t>
            </a:r>
            <a:r>
              <a:rPr kumimoji="1" lang="en-US" altLang="zh-TW" dirty="0"/>
              <a:t>for</a:t>
            </a:r>
            <a:r>
              <a:rPr kumimoji="1" lang="zh-TW" altLang="en-US" dirty="0"/>
              <a:t> </a:t>
            </a:r>
            <a:r>
              <a:rPr kumimoji="1" lang="en-US" altLang="zh-TW" dirty="0"/>
              <a:t>mixed</a:t>
            </a:r>
            <a:r>
              <a:rPr kumimoji="1" lang="zh-TW" altLang="en-US" dirty="0"/>
              <a:t> </a:t>
            </a:r>
            <a:r>
              <a:rPr kumimoji="1" lang="en-US" altLang="zh-TW" dirty="0"/>
              <a:t>groups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TIS</a:t>
            </a:r>
          </a:p>
          <a:p>
            <a:r>
              <a:rPr kumimoji="1" lang="en-US" altLang="zh-TW" strike="sngStrike" dirty="0"/>
              <a:t>Maybe more focus on non-annotated TIS</a:t>
            </a:r>
            <a:r>
              <a:rPr kumimoji="1" lang="zh-TW" altLang="en-US" strike="sngStrike" dirty="0"/>
              <a:t> </a:t>
            </a:r>
            <a:r>
              <a:rPr kumimoji="1" lang="en-US" altLang="zh-TW" strike="sngStrike" dirty="0"/>
              <a:t>(</a:t>
            </a:r>
            <a:r>
              <a:rPr lang="zh-TW" altLang="zh-TW" dirty="0"/>
              <a:t>Not adopted</a:t>
            </a:r>
            <a:r>
              <a:rPr lang="zh-TW" altLang="en-US" dirty="0"/>
              <a:t> </a:t>
            </a:r>
            <a:r>
              <a:rPr lang="en-US" altLang="zh-TW" dirty="0"/>
              <a:t>in</a:t>
            </a:r>
            <a:r>
              <a:rPr lang="zh-TW" altLang="en-US" dirty="0"/>
              <a:t> </a:t>
            </a:r>
            <a:r>
              <a:rPr lang="en-US" altLang="zh-TW" dirty="0"/>
              <a:t>this</a:t>
            </a:r>
            <a:r>
              <a:rPr lang="zh-TW" altLang="en-US" dirty="0"/>
              <a:t> </a:t>
            </a:r>
            <a:r>
              <a:rPr lang="en-US" altLang="zh-TW" dirty="0"/>
              <a:t>report)</a:t>
            </a:r>
            <a:endParaRPr kumimoji="1" lang="en-US" altLang="zh-TW" strike="sngStrike" dirty="0"/>
          </a:p>
          <a:p>
            <a:pPr lvl="1"/>
            <a:r>
              <a:rPr kumimoji="1" lang="en-US" altLang="zh-TW" strike="sngStrike" dirty="0"/>
              <a:t>Increase loss weight on non-annotated TIS</a:t>
            </a:r>
          </a:p>
          <a:p>
            <a:pPr lvl="1"/>
            <a:r>
              <a:rPr kumimoji="1" lang="en-US" altLang="zh-TW" strike="sngStrike" dirty="0"/>
              <a:t>Select model by evaluation of dev-set that only include non-annotated TIS</a:t>
            </a:r>
          </a:p>
        </p:txBody>
      </p:sp>
    </p:spTree>
    <p:extLst>
      <p:ext uri="{BB962C8B-B14F-4D97-AF65-F5344CB8AC3E}">
        <p14:creationId xmlns:p14="http://schemas.microsoft.com/office/powerpoint/2010/main" val="664281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9220EC-0AE9-B5C1-4471-609F4B27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Some Critical Choices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77AAB6-7A26-A5BF-FF34-7C131EB6F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TW" dirty="0"/>
              <a:t>Sequence</a:t>
            </a:r>
            <a:r>
              <a:rPr kumimoji="1" lang="zh-TW" altLang="en-US" dirty="0"/>
              <a:t> </a:t>
            </a:r>
            <a:r>
              <a:rPr kumimoji="1" lang="en-US" altLang="zh-TW" dirty="0"/>
              <a:t>Classification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or</a:t>
            </a:r>
            <a:r>
              <a:rPr kumimoji="1" lang="zh-TW" altLang="en-US" dirty="0"/>
              <a:t> </a:t>
            </a:r>
            <a:r>
              <a:rPr kumimoji="1" lang="en-US" altLang="zh-TW" dirty="0"/>
              <a:t>Token</a:t>
            </a:r>
            <a:r>
              <a:rPr kumimoji="1" lang="zh-TW" altLang="en-US" dirty="0"/>
              <a:t> </a:t>
            </a:r>
            <a:r>
              <a:rPr kumimoji="1" lang="en-US" altLang="zh-TW" dirty="0"/>
              <a:t>Classification</a:t>
            </a:r>
            <a:r>
              <a:rPr kumimoji="1" lang="zh-TW" altLang="en-US" dirty="0"/>
              <a:t> </a:t>
            </a:r>
            <a:r>
              <a:rPr kumimoji="1" lang="en-US" altLang="zh-TW" dirty="0">
                <a:sym typeface="Wingdings" pitchFamily="2" charset="2"/>
              </a:rPr>
              <a:t> sequence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classification</a:t>
            </a:r>
            <a:endParaRPr kumimoji="1" lang="en-US" altLang="zh-TW" dirty="0"/>
          </a:p>
          <a:p>
            <a:r>
              <a:rPr kumimoji="1" lang="en-US" altLang="zh-TW" dirty="0"/>
              <a:t>If the input length is limited, whether to centralize candidate site?</a:t>
            </a:r>
            <a:r>
              <a:rPr kumimoji="1" lang="zh-TW" altLang="en-US" dirty="0"/>
              <a:t> </a:t>
            </a:r>
            <a:r>
              <a:rPr kumimoji="1" lang="en-US" altLang="zh-TW" dirty="0">
                <a:sym typeface="Wingdings" pitchFamily="2" charset="2"/>
              </a:rPr>
              <a:t>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yes</a:t>
            </a:r>
            <a:endParaRPr kumimoji="1" lang="en-US" altLang="zh-TW" dirty="0"/>
          </a:p>
          <a:p>
            <a:r>
              <a:rPr kumimoji="1" lang="en-US" altLang="zh-TW" dirty="0"/>
              <a:t>How to feed the information of candidate TIS into network?</a:t>
            </a:r>
            <a:r>
              <a:rPr kumimoji="1" lang="zh-TW" altLang="en-US" dirty="0"/>
              <a:t> </a:t>
            </a:r>
            <a:r>
              <a:rPr kumimoji="1" lang="en-US" altLang="zh-TW" dirty="0">
                <a:sym typeface="Wingdings" pitchFamily="2" charset="2"/>
              </a:rPr>
              <a:t>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by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fix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the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position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of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candidate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TIS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in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input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(padding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at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both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end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when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any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ends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with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insufficient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length)</a:t>
            </a:r>
            <a:endParaRPr kumimoji="1" lang="en-US" altLang="zh-TW" dirty="0"/>
          </a:p>
          <a:p>
            <a:r>
              <a:rPr kumimoji="1" lang="en-US" altLang="zh-TW" dirty="0"/>
              <a:t>Should I avoid group samples from same transcript (but different TIS) into same train/test group? </a:t>
            </a:r>
            <a:r>
              <a:rPr kumimoji="1" lang="zh-TW" altLang="en-US" dirty="0"/>
              <a:t> </a:t>
            </a:r>
            <a:r>
              <a:rPr kumimoji="1" lang="en-US" altLang="zh-TW" dirty="0">
                <a:sym typeface="Wingdings" pitchFamily="2" charset="2"/>
              </a:rPr>
              <a:t>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yes</a:t>
            </a:r>
            <a:endParaRPr kumimoji="1" lang="en-US" altLang="zh-TW" dirty="0"/>
          </a:p>
          <a:p>
            <a:r>
              <a:rPr kumimoji="1" lang="en-US" altLang="zh-TW" dirty="0"/>
              <a:t>Which</a:t>
            </a:r>
            <a:r>
              <a:rPr kumimoji="1" lang="zh-TW" altLang="en-US" dirty="0"/>
              <a:t> </a:t>
            </a:r>
            <a:r>
              <a:rPr kumimoji="1" lang="en-US" altLang="zh-TW" dirty="0"/>
              <a:t>Evaluation Metric</a:t>
            </a:r>
            <a:r>
              <a:rPr kumimoji="1" lang="zh-TW" altLang="en-US" dirty="0"/>
              <a:t> </a:t>
            </a:r>
            <a:r>
              <a:rPr kumimoji="1" lang="en-US" altLang="zh-TW" dirty="0">
                <a:sym typeface="Wingdings" pitchFamily="2" charset="2"/>
              </a:rPr>
              <a:t>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AUPR</a:t>
            </a:r>
          </a:p>
          <a:p>
            <a:r>
              <a:rPr kumimoji="1" lang="en-US" altLang="zh-TW" dirty="0"/>
              <a:t>How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fine-tuning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with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pretrained</a:t>
            </a:r>
            <a:r>
              <a:rPr kumimoji="1" lang="zh-TW" altLang="en-US" dirty="0"/>
              <a:t> </a:t>
            </a:r>
            <a:r>
              <a:rPr kumimoji="1" lang="en-US" altLang="zh-TW" dirty="0"/>
              <a:t>model</a:t>
            </a:r>
            <a:r>
              <a:rPr kumimoji="1" lang="zh-TW" altLang="en-US" dirty="0"/>
              <a:t> </a:t>
            </a:r>
            <a:r>
              <a:rPr kumimoji="1" lang="en-US" altLang="zh-TW" dirty="0">
                <a:sym typeface="Wingdings" pitchFamily="2" charset="2"/>
              </a:rPr>
              <a:t>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try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 err="1">
                <a:sym typeface="Wingdings" pitchFamily="2" charset="2"/>
              </a:rPr>
              <a:t>LoRA</a:t>
            </a:r>
            <a:endParaRPr kumimoji="1" lang="en-US" altLang="zh-TW" dirty="0">
              <a:sym typeface="Wingdings" pitchFamily="2" charset="2"/>
            </a:endParaRP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7465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FF80E1-303A-B501-FBD4-E04F95C01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Context</a:t>
            </a:r>
            <a:r>
              <a:rPr kumimoji="1" lang="zh-TW" altLang="en-US" dirty="0"/>
              <a:t> </a:t>
            </a:r>
            <a:r>
              <a:rPr kumimoji="1" lang="en-US" altLang="zh-TW" dirty="0"/>
              <a:t>Window</a:t>
            </a:r>
            <a:r>
              <a:rPr kumimoji="1" lang="zh-TW" altLang="en-US" dirty="0"/>
              <a:t> </a:t>
            </a:r>
            <a:r>
              <a:rPr kumimoji="1" lang="en-US" altLang="zh-TW" dirty="0"/>
              <a:t>Handling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–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centralize</a:t>
            </a:r>
            <a:r>
              <a:rPr kumimoji="1" lang="zh-TW" altLang="en-US" dirty="0"/>
              <a:t> </a:t>
            </a:r>
            <a:r>
              <a:rPr kumimoji="1" lang="en-US" altLang="zh-TW" dirty="0"/>
              <a:t>TIS</a:t>
            </a:r>
            <a:r>
              <a:rPr kumimoji="1" lang="zh-TW" altLang="en-US" dirty="0"/>
              <a:t> </a:t>
            </a:r>
            <a:r>
              <a:rPr kumimoji="1" lang="en-US" altLang="zh-TW" dirty="0"/>
              <a:t>site</a:t>
            </a:r>
            <a:r>
              <a:rPr kumimoji="1" lang="zh-TW" altLang="en-US" dirty="0"/>
              <a:t> </a:t>
            </a:r>
            <a:r>
              <a:rPr kumimoji="1" lang="en-US" altLang="zh-TW" dirty="0"/>
              <a:t>in</a:t>
            </a:r>
            <a:r>
              <a:rPr kumimoji="1" lang="zh-TW" altLang="en-US" dirty="0"/>
              <a:t> </a:t>
            </a:r>
            <a:r>
              <a:rPr kumimoji="1" lang="en-US" altLang="zh-TW" dirty="0"/>
              <a:t>each</a:t>
            </a:r>
            <a:r>
              <a:rPr kumimoji="1" lang="zh-TW" altLang="en-US" dirty="0"/>
              <a:t> </a:t>
            </a:r>
            <a:r>
              <a:rPr kumimoji="1" lang="en-US" altLang="zh-TW" dirty="0"/>
              <a:t>sample</a:t>
            </a:r>
            <a:endParaRPr kumimoji="1"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629A16-F310-F7E1-5B67-0CEC4A14F9AF}"/>
              </a:ext>
            </a:extLst>
          </p:cNvPr>
          <p:cNvSpPr/>
          <p:nvPr/>
        </p:nvSpPr>
        <p:spPr>
          <a:xfrm>
            <a:off x="3868659" y="2893941"/>
            <a:ext cx="2420804" cy="289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F06AC5-FF3E-2294-2032-E55D623CEC34}"/>
              </a:ext>
            </a:extLst>
          </p:cNvPr>
          <p:cNvSpPr/>
          <p:nvPr/>
        </p:nvSpPr>
        <p:spPr>
          <a:xfrm>
            <a:off x="6728387" y="2891441"/>
            <a:ext cx="1911054" cy="29183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FC4F54-30EF-BE67-32A9-8E6598D84842}"/>
              </a:ext>
            </a:extLst>
          </p:cNvPr>
          <p:cNvSpPr/>
          <p:nvPr/>
        </p:nvSpPr>
        <p:spPr>
          <a:xfrm>
            <a:off x="6346925" y="2891441"/>
            <a:ext cx="324000" cy="2918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A8FC773-6F1B-12B8-199B-76638BCB54D2}"/>
              </a:ext>
            </a:extLst>
          </p:cNvPr>
          <p:cNvSpPr txBox="1"/>
          <p:nvPr/>
        </p:nvSpPr>
        <p:spPr>
          <a:xfrm>
            <a:off x="6289463" y="2454830"/>
            <a:ext cx="892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TIS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A703A7A-ACAD-6344-A2DE-C261D65523C5}"/>
              </a:ext>
            </a:extLst>
          </p:cNvPr>
          <p:cNvSpPr txBox="1"/>
          <p:nvPr/>
        </p:nvSpPr>
        <p:spPr>
          <a:xfrm>
            <a:off x="2264366" y="3294511"/>
            <a:ext cx="64744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Consolas" panose="020B0609020204030204" pitchFamily="49" charset="0"/>
                <a:cs typeface="Consolas" panose="020B0609020204030204" pitchFamily="49" charset="0"/>
              </a:rPr>
              <a:t>Seq1</a:t>
            </a:r>
            <a:r>
              <a:rPr kumimoji="1" lang="zh-TW" alt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1" lang="en-US" altLang="zh-TW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PPPPP</a:t>
            </a:r>
            <a:r>
              <a:rPr kumimoji="1" lang="en-US" altLang="zh-TW" sz="3200" dirty="0">
                <a:latin typeface="Consolas" panose="020B0609020204030204" pitchFamily="49" charset="0"/>
                <a:cs typeface="Consolas" panose="020B0609020204030204" pitchFamily="49" charset="0"/>
              </a:rPr>
              <a:t>GAGAAF</a:t>
            </a:r>
            <a:r>
              <a:rPr kumimoji="1" lang="en-US" altLang="zh-TW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kumimoji="1" lang="en-US" altLang="zh-TW" sz="3200" dirty="0">
                <a:latin typeface="Consolas" panose="020B0609020204030204" pitchFamily="49" charset="0"/>
                <a:cs typeface="Consolas" panose="020B0609020204030204" pitchFamily="49" charset="0"/>
              </a:rPr>
              <a:t>TGGGGCTTT</a:t>
            </a:r>
            <a:r>
              <a:rPr kumimoji="1" lang="zh-TW" alt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22169CA-B190-3733-9F00-02D02016B8E3}"/>
              </a:ext>
            </a:extLst>
          </p:cNvPr>
          <p:cNvSpPr txBox="1"/>
          <p:nvPr/>
        </p:nvSpPr>
        <p:spPr>
          <a:xfrm>
            <a:off x="2281502" y="3922224"/>
            <a:ext cx="64744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Consolas" panose="020B0609020204030204" pitchFamily="49" charset="0"/>
                <a:cs typeface="Consolas" panose="020B0609020204030204" pitchFamily="49" charset="0"/>
              </a:rPr>
              <a:t>Seq2</a:t>
            </a:r>
            <a:r>
              <a:rPr kumimoji="1" lang="zh-TW" alt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1" lang="en-US" altLang="zh-TW" sz="3200" dirty="0">
                <a:latin typeface="Consolas" panose="020B0609020204030204" pitchFamily="49" charset="0"/>
                <a:cs typeface="Consolas" panose="020B0609020204030204" pitchFamily="49" charset="0"/>
              </a:rPr>
              <a:t>TCGCGAGAACC</a:t>
            </a:r>
            <a:r>
              <a:rPr kumimoji="1" lang="en-US" altLang="zh-TW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kumimoji="1" lang="en-US" altLang="zh-TW" sz="3200" dirty="0">
                <a:latin typeface="Consolas" panose="020B0609020204030204" pitchFamily="49" charset="0"/>
                <a:cs typeface="Consolas" panose="020B0609020204030204" pitchFamily="49" charset="0"/>
              </a:rPr>
              <a:t>TGGGGCTAG</a:t>
            </a:r>
            <a:r>
              <a:rPr kumimoji="1" lang="zh-TW" alt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14A3D33-C88F-3D67-1A14-E480236E8598}"/>
              </a:ext>
            </a:extLst>
          </p:cNvPr>
          <p:cNvSpPr txBox="1"/>
          <p:nvPr/>
        </p:nvSpPr>
        <p:spPr>
          <a:xfrm>
            <a:off x="2281502" y="4549937"/>
            <a:ext cx="64744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Consolas" panose="020B0609020204030204" pitchFamily="49" charset="0"/>
                <a:cs typeface="Consolas" panose="020B0609020204030204" pitchFamily="49" charset="0"/>
              </a:rPr>
              <a:t>Seq3</a:t>
            </a:r>
            <a:r>
              <a:rPr kumimoji="1" lang="zh-TW" alt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1" lang="en-US" altLang="zh-TW" sz="3200" dirty="0">
                <a:latin typeface="Consolas" panose="020B0609020204030204" pitchFamily="49" charset="0"/>
                <a:cs typeface="Consolas" panose="020B0609020204030204" pitchFamily="49" charset="0"/>
              </a:rPr>
              <a:t>TCGCGAGAACC</a:t>
            </a:r>
            <a:r>
              <a:rPr kumimoji="1" lang="en-US" altLang="zh-TW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kumimoji="1" lang="en-US" altLang="zh-TW" sz="3200" dirty="0">
                <a:latin typeface="Consolas" panose="020B0609020204030204" pitchFamily="49" charset="0"/>
                <a:cs typeface="Consolas" panose="020B0609020204030204" pitchFamily="49" charset="0"/>
              </a:rPr>
              <a:t>TGGGG</a:t>
            </a:r>
            <a:r>
              <a:rPr kumimoji="1" lang="en-US" altLang="zh-TW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PPPP</a:t>
            </a:r>
            <a:r>
              <a:rPr kumimoji="1" lang="zh-TW" alt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0802560-CB5B-8429-8DA8-90CE087F7889}"/>
              </a:ext>
            </a:extLst>
          </p:cNvPr>
          <p:cNvSpPr txBox="1"/>
          <p:nvPr/>
        </p:nvSpPr>
        <p:spPr>
          <a:xfrm>
            <a:off x="8955740" y="2164977"/>
            <a:ext cx="2554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“P”</a:t>
            </a:r>
            <a:r>
              <a:rPr kumimoji="1" lang="zh-TW" altLang="en-US" dirty="0"/>
              <a:t> </a:t>
            </a:r>
            <a:r>
              <a:rPr kumimoji="1" lang="en-US" altLang="zh-TW" dirty="0"/>
              <a:t>stand</a:t>
            </a:r>
            <a:r>
              <a:rPr kumimoji="1" lang="zh-TW" altLang="en-US" dirty="0"/>
              <a:t> </a:t>
            </a:r>
            <a:r>
              <a:rPr kumimoji="1" lang="en-US" altLang="zh-TW" dirty="0"/>
              <a:t>for</a:t>
            </a:r>
            <a:r>
              <a:rPr kumimoji="1" lang="zh-TW" altLang="en-US" dirty="0"/>
              <a:t> </a:t>
            </a:r>
            <a:r>
              <a:rPr kumimoji="1" lang="en-US" altLang="zh-TW" dirty="0"/>
              <a:t>“Padding”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2453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50EFE-4ED7-4774-DDBF-ACB22ACFF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9E169E-9A7E-D111-B948-8B9EF42B5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00"/>
                </a:solidFill>
                <a:latin typeface="Helvetica Neue" panose="02000503000000020004" pitchFamily="2" charset="0"/>
              </a:rPr>
              <a:t>RiNALMo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E4E2C5-D8A6-668A-DA97-A66968E0A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F1317EF-1533-52AE-D5ED-66F0F6045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8" y="187673"/>
            <a:ext cx="7772400" cy="157048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8309C60-2717-A8FC-D6DC-BED19FC8F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012841"/>
            <a:ext cx="9448800" cy="448003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0A896F1-83A7-D7DF-852B-3C88D95448B3}"/>
              </a:ext>
            </a:extLst>
          </p:cNvPr>
          <p:cNvSpPr txBox="1"/>
          <p:nvPr/>
        </p:nvSpPr>
        <p:spPr>
          <a:xfrm>
            <a:off x="8284028" y="326584"/>
            <a:ext cx="35623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650M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pre-trained on 36M non-coding RNA</a:t>
            </a:r>
            <a:r>
              <a:rPr kumimoji="1" lang="zh-TW" altLang="en-US" dirty="0"/>
              <a:t> </a:t>
            </a:r>
            <a:r>
              <a:rPr kumimoji="1" lang="en-US" altLang="zh-TW" dirty="0"/>
              <a:t>(from </a:t>
            </a:r>
            <a:r>
              <a:rPr kumimoji="1" lang="en-US" altLang="zh-TW" dirty="0" err="1"/>
              <a:t>RNAcentral</a:t>
            </a:r>
            <a:r>
              <a:rPr kumimoji="1" lang="en-US" altLang="zh-TW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3A66A9-BA24-450D-5899-602BE9D0EAA4}"/>
              </a:ext>
            </a:extLst>
          </p:cNvPr>
          <p:cNvSpPr/>
          <p:nvPr/>
        </p:nvSpPr>
        <p:spPr>
          <a:xfrm>
            <a:off x="8455068" y="4252858"/>
            <a:ext cx="2154477" cy="183479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35838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9B6C42-C57E-3680-C2B0-9915DD120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305" y="-10935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Model</a:t>
            </a:r>
            <a:r>
              <a:rPr kumimoji="1" lang="zh-TW" altLang="en-US" dirty="0"/>
              <a:t> </a:t>
            </a:r>
            <a:r>
              <a:rPr kumimoji="1" lang="en-US" altLang="zh-TW" dirty="0"/>
              <a:t>Schema</a:t>
            </a:r>
            <a:endParaRPr kumimoji="1" lang="zh-TW" altLang="en-US" dirty="0"/>
          </a:p>
        </p:txBody>
      </p:sp>
      <p:cxnSp>
        <p:nvCxnSpPr>
          <p:cNvPr id="4" name="直線箭頭接點 3">
            <a:extLst>
              <a:ext uri="{FF2B5EF4-FFF2-40B4-BE49-F238E27FC236}">
                <a16:creationId xmlns:a16="http://schemas.microsoft.com/office/drawing/2014/main" id="{7AE4953B-51EE-6884-A17C-B95799F7558A}"/>
              </a:ext>
            </a:extLst>
          </p:cNvPr>
          <p:cNvCxnSpPr>
            <a:cxnSpLocks/>
          </p:cNvCxnSpPr>
          <p:nvPr/>
        </p:nvCxnSpPr>
        <p:spPr>
          <a:xfrm flipV="1">
            <a:off x="715159" y="2363794"/>
            <a:ext cx="0" cy="273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4D9C6E8A-290A-2A16-D1AC-60DAAD41977B}"/>
              </a:ext>
            </a:extLst>
          </p:cNvPr>
          <p:cNvSpPr txBox="1"/>
          <p:nvPr/>
        </p:nvSpPr>
        <p:spPr>
          <a:xfrm>
            <a:off x="426819" y="618594"/>
            <a:ext cx="98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 ~ 1</a:t>
            </a:r>
            <a:endParaRPr kumimoji="1"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A49AF-A22A-209E-C0FD-11DA34DBAAEF}"/>
              </a:ext>
            </a:extLst>
          </p:cNvPr>
          <p:cNvSpPr/>
          <p:nvPr/>
        </p:nvSpPr>
        <p:spPr>
          <a:xfrm>
            <a:off x="178745" y="1221922"/>
            <a:ext cx="1237502" cy="43691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kumimoji="1" lang="en-US" altLang="zh-TW" dirty="0"/>
              <a:t>Sigmoid</a:t>
            </a:r>
            <a:endParaRPr kumimoji="1" lang="zh-TW" altLang="en-US" dirty="0"/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2095D555-9C33-289B-AF50-16C78018FE64}"/>
              </a:ext>
            </a:extLst>
          </p:cNvPr>
          <p:cNvCxnSpPr>
            <a:cxnSpLocks/>
          </p:cNvCxnSpPr>
          <p:nvPr/>
        </p:nvCxnSpPr>
        <p:spPr>
          <a:xfrm flipV="1">
            <a:off x="754042" y="948568"/>
            <a:ext cx="0" cy="273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73E371FA-247F-BFA1-C963-A48E4F76784A}"/>
              </a:ext>
            </a:extLst>
          </p:cNvPr>
          <p:cNvSpPr txBox="1"/>
          <p:nvPr/>
        </p:nvSpPr>
        <p:spPr>
          <a:xfrm>
            <a:off x="7432121" y="35222"/>
            <a:ext cx="4886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Transformer (Pretrain RNA-LM  + Classification Layer)</a:t>
            </a:r>
            <a:endParaRPr kumimoji="1"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0B83D6-B541-5415-7CFC-7E7CCC0A1272}"/>
              </a:ext>
            </a:extLst>
          </p:cNvPr>
          <p:cNvSpPr/>
          <p:nvPr/>
        </p:nvSpPr>
        <p:spPr>
          <a:xfrm>
            <a:off x="98475" y="2637402"/>
            <a:ext cx="11849662" cy="104899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Pretrained RNA-LM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E1ABDE9-3C5D-CF00-E8D4-E627A658D260}"/>
              </a:ext>
            </a:extLst>
          </p:cNvPr>
          <p:cNvSpPr txBox="1"/>
          <p:nvPr/>
        </p:nvSpPr>
        <p:spPr>
          <a:xfrm>
            <a:off x="98475" y="5860535"/>
            <a:ext cx="11443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600" b="1" dirty="0"/>
              <a:t>[CLS]         A             C            C             </a:t>
            </a:r>
            <a:r>
              <a:rPr kumimoji="1" lang="en-US" altLang="zh-TW" sz="3600" b="1" dirty="0">
                <a:solidFill>
                  <a:srgbClr val="FF0000"/>
                </a:solidFill>
              </a:rPr>
              <a:t>A</a:t>
            </a:r>
            <a:r>
              <a:rPr kumimoji="1" lang="en-US" altLang="zh-TW" sz="3600" b="1" dirty="0"/>
              <a:t>             U            G            G</a:t>
            </a:r>
            <a:endParaRPr kumimoji="1" lang="zh-TW" altLang="en-US" sz="3600" b="1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0E06D867-BBFA-FF2C-0C3B-ABC7EEF574D0}"/>
              </a:ext>
            </a:extLst>
          </p:cNvPr>
          <p:cNvGrpSpPr/>
          <p:nvPr/>
        </p:nvGrpSpPr>
        <p:grpSpPr>
          <a:xfrm>
            <a:off x="808045" y="3730809"/>
            <a:ext cx="10430522" cy="1858262"/>
            <a:chOff x="839367" y="4043644"/>
            <a:chExt cx="10430522" cy="1245483"/>
          </a:xfrm>
        </p:grpSpPr>
        <p:cxnSp>
          <p:nvCxnSpPr>
            <p:cNvPr id="12" name="直線箭頭接點 11">
              <a:extLst>
                <a:ext uri="{FF2B5EF4-FFF2-40B4-BE49-F238E27FC236}">
                  <a16:creationId xmlns:a16="http://schemas.microsoft.com/office/drawing/2014/main" id="{7F6EDBBC-A897-350F-67AA-E425567AB2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084" y="4050827"/>
              <a:ext cx="0" cy="12383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箭頭接點 12">
              <a:extLst>
                <a:ext uri="{FF2B5EF4-FFF2-40B4-BE49-F238E27FC236}">
                  <a16:creationId xmlns:a16="http://schemas.microsoft.com/office/drawing/2014/main" id="{520C0844-9138-1E96-98E2-577080447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704" y="4049390"/>
              <a:ext cx="0" cy="12383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箭頭接點 13">
              <a:extLst>
                <a:ext uri="{FF2B5EF4-FFF2-40B4-BE49-F238E27FC236}">
                  <a16:creationId xmlns:a16="http://schemas.microsoft.com/office/drawing/2014/main" id="{5EDAF618-781C-2E34-381D-9A73D7F2B2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6843" y="4046516"/>
              <a:ext cx="0" cy="12383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箭頭接點 14">
              <a:extLst>
                <a:ext uri="{FF2B5EF4-FFF2-40B4-BE49-F238E27FC236}">
                  <a16:creationId xmlns:a16="http://schemas.microsoft.com/office/drawing/2014/main" id="{057AE1E4-CA35-5F77-C9A0-59E19AF03F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284" y="4045530"/>
              <a:ext cx="0" cy="12383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箭頭接點 15">
              <a:extLst>
                <a:ext uri="{FF2B5EF4-FFF2-40B4-BE49-F238E27FC236}">
                  <a16:creationId xmlns:a16="http://schemas.microsoft.com/office/drawing/2014/main" id="{14ED315A-3DB5-5B79-2EE1-4D67E0B1B4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6332" y="4043644"/>
              <a:ext cx="0" cy="12383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箭頭接點 16">
              <a:extLst>
                <a:ext uri="{FF2B5EF4-FFF2-40B4-BE49-F238E27FC236}">
                  <a16:creationId xmlns:a16="http://schemas.microsoft.com/office/drawing/2014/main" id="{02FC683C-572A-C351-5B85-76DC8A2576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90163" y="4049390"/>
              <a:ext cx="0" cy="12383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箭頭接點 17">
              <a:extLst>
                <a:ext uri="{FF2B5EF4-FFF2-40B4-BE49-F238E27FC236}">
                  <a16:creationId xmlns:a16="http://schemas.microsoft.com/office/drawing/2014/main" id="{91B8F7DB-8397-A166-A7F3-7BCA230767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69889" y="4049390"/>
              <a:ext cx="0" cy="12383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箭頭接點 18">
              <a:extLst>
                <a:ext uri="{FF2B5EF4-FFF2-40B4-BE49-F238E27FC236}">
                  <a16:creationId xmlns:a16="http://schemas.microsoft.com/office/drawing/2014/main" id="{1DD5546F-E784-AAEA-9172-53FF255053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9367" y="4049390"/>
              <a:ext cx="0" cy="12383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D6D731B7-59DA-5E4E-12CD-F30E601601F1}"/>
              </a:ext>
            </a:extLst>
          </p:cNvPr>
          <p:cNvSpPr/>
          <p:nvPr/>
        </p:nvSpPr>
        <p:spPr>
          <a:xfrm>
            <a:off x="178745" y="1926877"/>
            <a:ext cx="1870942" cy="43691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kumimoji="1" lang="en-US" altLang="zh-TW" dirty="0"/>
              <a:t>Attention to rest</a:t>
            </a:r>
            <a:endParaRPr kumimoji="1" lang="zh-TW" altLang="en-US" dirty="0"/>
          </a:p>
        </p:txBody>
      </p: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2CF81EFF-3A28-F76F-E375-6BF449F3901A}"/>
              </a:ext>
            </a:extLst>
          </p:cNvPr>
          <p:cNvCxnSpPr>
            <a:cxnSpLocks/>
          </p:cNvCxnSpPr>
          <p:nvPr/>
        </p:nvCxnSpPr>
        <p:spPr>
          <a:xfrm flipV="1">
            <a:off x="753600" y="1658839"/>
            <a:ext cx="0" cy="273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45D063FC-6EC0-EDA6-6C4A-E01A8ED95B3B}"/>
              </a:ext>
            </a:extLst>
          </p:cNvPr>
          <p:cNvSpPr/>
          <p:nvPr/>
        </p:nvSpPr>
        <p:spPr>
          <a:xfrm>
            <a:off x="75178" y="4022847"/>
            <a:ext cx="11849662" cy="104899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Tokenizer of RNA-LM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5371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AE8B-AB74-D14D-3F64-5776436A3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CDF1FD-C0F0-E9A8-D519-2CF895569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Sample Grouping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61EFCB-AC76-0B7B-B78F-19A9FAD7D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Keep same transcript in same group (be one of train/dev/test) </a:t>
            </a:r>
            <a:r>
              <a:rPr kumimoji="1" lang="en-US" altLang="zh-TW" dirty="0">
                <a:sym typeface="Wingdings" pitchFamily="2" charset="2"/>
              </a:rPr>
              <a:t> avoid model just remember the sequence had seems before </a:t>
            </a:r>
            <a:endParaRPr kumimoji="1"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7CCBD5-5D4D-1279-B568-BDECC7F264B0}"/>
              </a:ext>
            </a:extLst>
          </p:cNvPr>
          <p:cNvSpPr/>
          <p:nvPr/>
        </p:nvSpPr>
        <p:spPr>
          <a:xfrm>
            <a:off x="2663484" y="4139607"/>
            <a:ext cx="3235569" cy="253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4150362D-4D75-8AC5-737A-9ED5D037685D}"/>
              </a:ext>
            </a:extLst>
          </p:cNvPr>
          <p:cNvCxnSpPr>
            <a:stCxn id="16" idx="3"/>
          </p:cNvCxnSpPr>
          <p:nvPr/>
        </p:nvCxnSpPr>
        <p:spPr>
          <a:xfrm>
            <a:off x="5899053" y="4266217"/>
            <a:ext cx="7174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387BE705-6A88-EE89-7A43-B404B62B01C3}"/>
              </a:ext>
            </a:extLst>
          </p:cNvPr>
          <p:cNvSpPr/>
          <p:nvPr/>
        </p:nvSpPr>
        <p:spPr>
          <a:xfrm>
            <a:off x="6616506" y="4139608"/>
            <a:ext cx="534572" cy="253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EBD492B-A6A6-E441-7F97-D5F663C48F93}"/>
              </a:ext>
            </a:extLst>
          </p:cNvPr>
          <p:cNvCxnSpPr/>
          <p:nvPr/>
        </p:nvCxnSpPr>
        <p:spPr>
          <a:xfrm>
            <a:off x="7151078" y="4266217"/>
            <a:ext cx="7174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E6D8BC0-B49F-AE5C-23A7-7FDBFB81C238}"/>
              </a:ext>
            </a:extLst>
          </p:cNvPr>
          <p:cNvSpPr txBox="1"/>
          <p:nvPr/>
        </p:nvSpPr>
        <p:spPr>
          <a:xfrm>
            <a:off x="5992837" y="4085122"/>
            <a:ext cx="75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ATG</a:t>
            </a:r>
            <a:endParaRPr kumimoji="1"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A789B09-2467-D89E-6A08-9F8942AEDD9A}"/>
              </a:ext>
            </a:extLst>
          </p:cNvPr>
          <p:cNvSpPr txBox="1"/>
          <p:nvPr/>
        </p:nvSpPr>
        <p:spPr>
          <a:xfrm>
            <a:off x="7219657" y="4081550"/>
            <a:ext cx="75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CTG</a:t>
            </a:r>
            <a:endParaRPr kumimoji="1"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12857B3-D982-20A0-4623-F1FF80F6674D}"/>
              </a:ext>
            </a:extLst>
          </p:cNvPr>
          <p:cNvSpPr/>
          <p:nvPr/>
        </p:nvSpPr>
        <p:spPr>
          <a:xfrm>
            <a:off x="7868530" y="4145110"/>
            <a:ext cx="534572" cy="253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ADE1EC9A-21DB-0CB7-6D90-CB58CCD66D58}"/>
              </a:ext>
            </a:extLst>
          </p:cNvPr>
          <p:cNvCxnSpPr>
            <a:cxnSpLocks/>
          </p:cNvCxnSpPr>
          <p:nvPr/>
        </p:nvCxnSpPr>
        <p:spPr>
          <a:xfrm>
            <a:off x="8403102" y="4271719"/>
            <a:ext cx="7174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BE76627-C8F4-9029-C98F-92B6A132C070}"/>
              </a:ext>
            </a:extLst>
          </p:cNvPr>
          <p:cNvSpPr txBox="1"/>
          <p:nvPr/>
        </p:nvSpPr>
        <p:spPr>
          <a:xfrm>
            <a:off x="8471681" y="4087052"/>
            <a:ext cx="75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CTG</a:t>
            </a:r>
            <a:endParaRPr kumimoji="1" lang="zh-TW" altLang="en-US" b="1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2EE3105-9157-4D3A-693A-09C7B93306AF}"/>
              </a:ext>
            </a:extLst>
          </p:cNvPr>
          <p:cNvSpPr txBox="1"/>
          <p:nvPr/>
        </p:nvSpPr>
        <p:spPr>
          <a:xfrm>
            <a:off x="9641059" y="3287709"/>
            <a:ext cx="1576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positive</a:t>
            </a:r>
            <a:endParaRPr kumimoji="1"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283FA9A-482A-F309-8ACC-1FB4D9BB5C39}"/>
              </a:ext>
            </a:extLst>
          </p:cNvPr>
          <p:cNvSpPr txBox="1"/>
          <p:nvPr/>
        </p:nvSpPr>
        <p:spPr>
          <a:xfrm>
            <a:off x="9650437" y="3671728"/>
            <a:ext cx="1576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negative</a:t>
            </a:r>
            <a:endParaRPr kumimoji="1"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E92D087-82C4-B42A-B55F-594EAD5097E6}"/>
              </a:ext>
            </a:extLst>
          </p:cNvPr>
          <p:cNvSpPr txBox="1"/>
          <p:nvPr/>
        </p:nvSpPr>
        <p:spPr>
          <a:xfrm>
            <a:off x="9650437" y="4055748"/>
            <a:ext cx="1576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negative</a:t>
            </a:r>
            <a:endParaRPr kumimoji="1"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F395E72-4F2B-0D62-5795-619A4D3F34DF}"/>
              </a:ext>
            </a:extLst>
          </p:cNvPr>
          <p:cNvSpPr/>
          <p:nvPr/>
        </p:nvSpPr>
        <p:spPr>
          <a:xfrm>
            <a:off x="2654107" y="5138127"/>
            <a:ext cx="1658228" cy="311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1F1866D-3A1B-0BAC-069A-4CF28A9A23D0}"/>
              </a:ext>
            </a:extLst>
          </p:cNvPr>
          <p:cNvSpPr/>
          <p:nvPr/>
        </p:nvSpPr>
        <p:spPr>
          <a:xfrm>
            <a:off x="4996082" y="5140057"/>
            <a:ext cx="311541" cy="2835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71CB5203-EA52-B5EA-4F8B-70423A2D5465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V="1">
            <a:off x="4312335" y="5281828"/>
            <a:ext cx="683747" cy="119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28C72E71-AC11-5AAB-3665-A9801FF1EACE}"/>
              </a:ext>
            </a:extLst>
          </p:cNvPr>
          <p:cNvSpPr txBox="1"/>
          <p:nvPr/>
        </p:nvSpPr>
        <p:spPr>
          <a:xfrm>
            <a:off x="4340763" y="5097161"/>
            <a:ext cx="64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ATG</a:t>
            </a:r>
            <a:endParaRPr kumimoji="1" lang="zh-TW" altLang="en-US" dirty="0"/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65EF6EAC-B1EB-FDB1-E16C-8C459EEE980E}"/>
              </a:ext>
            </a:extLst>
          </p:cNvPr>
          <p:cNvCxnSpPr>
            <a:cxnSpLocks/>
            <a:stCxn id="37" idx="3"/>
            <a:endCxn id="75" idx="1"/>
          </p:cNvCxnSpPr>
          <p:nvPr/>
        </p:nvCxnSpPr>
        <p:spPr>
          <a:xfrm flipV="1">
            <a:off x="5307623" y="5270238"/>
            <a:ext cx="542340" cy="11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778B52D5-E249-C8F6-0265-971521532200}"/>
              </a:ext>
            </a:extLst>
          </p:cNvPr>
          <p:cNvSpPr txBox="1"/>
          <p:nvPr/>
        </p:nvSpPr>
        <p:spPr>
          <a:xfrm>
            <a:off x="9641059" y="5054268"/>
            <a:ext cx="1576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positive</a:t>
            </a:r>
            <a:endParaRPr kumimoji="1" lang="zh-TW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D6A5614-726C-2845-EE62-23C5297CB1EC}"/>
              </a:ext>
            </a:extLst>
          </p:cNvPr>
          <p:cNvSpPr/>
          <p:nvPr/>
        </p:nvSpPr>
        <p:spPr>
          <a:xfrm>
            <a:off x="2654107" y="3715524"/>
            <a:ext cx="3235569" cy="253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0F6360BE-F0AF-744E-0B30-602A9F6BD772}"/>
              </a:ext>
            </a:extLst>
          </p:cNvPr>
          <p:cNvCxnSpPr>
            <a:stCxn id="50" idx="3"/>
          </p:cNvCxnSpPr>
          <p:nvPr/>
        </p:nvCxnSpPr>
        <p:spPr>
          <a:xfrm>
            <a:off x="5889676" y="3842134"/>
            <a:ext cx="7174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A67FEFF6-FCE3-F2F7-145F-C6F0888F30A1}"/>
              </a:ext>
            </a:extLst>
          </p:cNvPr>
          <p:cNvSpPr/>
          <p:nvPr/>
        </p:nvSpPr>
        <p:spPr>
          <a:xfrm>
            <a:off x="6607129" y="3715525"/>
            <a:ext cx="534572" cy="253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6761E290-7F61-F1DB-52DE-5B71329D902F}"/>
              </a:ext>
            </a:extLst>
          </p:cNvPr>
          <p:cNvCxnSpPr/>
          <p:nvPr/>
        </p:nvCxnSpPr>
        <p:spPr>
          <a:xfrm>
            <a:off x="7141701" y="3842134"/>
            <a:ext cx="7174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DF56DBA1-D956-F3D9-8D6B-2CB86FD3D39D}"/>
              </a:ext>
            </a:extLst>
          </p:cNvPr>
          <p:cNvSpPr txBox="1"/>
          <p:nvPr/>
        </p:nvSpPr>
        <p:spPr>
          <a:xfrm>
            <a:off x="5983460" y="3661039"/>
            <a:ext cx="75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ATG</a:t>
            </a:r>
            <a:endParaRPr kumimoji="1" lang="zh-TW" altLang="en-US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1BB81512-CD4D-320B-60AF-E502E8992D58}"/>
              </a:ext>
            </a:extLst>
          </p:cNvPr>
          <p:cNvSpPr txBox="1"/>
          <p:nvPr/>
        </p:nvSpPr>
        <p:spPr>
          <a:xfrm>
            <a:off x="7210280" y="3657467"/>
            <a:ext cx="75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CTG</a:t>
            </a:r>
            <a:endParaRPr kumimoji="1" lang="zh-TW" altLang="en-US" b="1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DC51320-1D74-382F-45B2-399DC6BA30C0}"/>
              </a:ext>
            </a:extLst>
          </p:cNvPr>
          <p:cNvSpPr/>
          <p:nvPr/>
        </p:nvSpPr>
        <p:spPr>
          <a:xfrm>
            <a:off x="7859153" y="3721027"/>
            <a:ext cx="534572" cy="253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F065E5B5-B13C-F3EE-9DDF-581B36EF64F9}"/>
              </a:ext>
            </a:extLst>
          </p:cNvPr>
          <p:cNvCxnSpPr>
            <a:cxnSpLocks/>
          </p:cNvCxnSpPr>
          <p:nvPr/>
        </p:nvCxnSpPr>
        <p:spPr>
          <a:xfrm>
            <a:off x="8393725" y="3847636"/>
            <a:ext cx="7174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26FCC965-F2AE-AFBE-CC1F-CB1FF2FFFF6A}"/>
              </a:ext>
            </a:extLst>
          </p:cNvPr>
          <p:cNvSpPr txBox="1"/>
          <p:nvPr/>
        </p:nvSpPr>
        <p:spPr>
          <a:xfrm>
            <a:off x="8462304" y="3662969"/>
            <a:ext cx="75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CTG</a:t>
            </a:r>
            <a:endParaRPr kumimoji="1" lang="zh-TW" altLang="en-US" dirty="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103609E-59A9-80FF-7F61-94EE1E4E0FBA}"/>
              </a:ext>
            </a:extLst>
          </p:cNvPr>
          <p:cNvSpPr/>
          <p:nvPr/>
        </p:nvSpPr>
        <p:spPr>
          <a:xfrm>
            <a:off x="2654106" y="3293830"/>
            <a:ext cx="3235569" cy="253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7077AC02-630F-1731-7489-9CA52752B9D7}"/>
              </a:ext>
            </a:extLst>
          </p:cNvPr>
          <p:cNvCxnSpPr>
            <a:stCxn id="59" idx="3"/>
          </p:cNvCxnSpPr>
          <p:nvPr/>
        </p:nvCxnSpPr>
        <p:spPr>
          <a:xfrm>
            <a:off x="5889675" y="3420440"/>
            <a:ext cx="7174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8689A4E0-1A9A-56C2-BE30-7A8FFF0474CE}"/>
              </a:ext>
            </a:extLst>
          </p:cNvPr>
          <p:cNvSpPr/>
          <p:nvPr/>
        </p:nvSpPr>
        <p:spPr>
          <a:xfrm>
            <a:off x="6607128" y="3293831"/>
            <a:ext cx="534572" cy="253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330907A8-0BB7-6A27-C640-8AC57D6CC0CA}"/>
              </a:ext>
            </a:extLst>
          </p:cNvPr>
          <p:cNvCxnSpPr/>
          <p:nvPr/>
        </p:nvCxnSpPr>
        <p:spPr>
          <a:xfrm>
            <a:off x="7141700" y="3420440"/>
            <a:ext cx="7174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77829E34-0B7B-6DDB-20B4-7F1EFDE337F1}"/>
              </a:ext>
            </a:extLst>
          </p:cNvPr>
          <p:cNvSpPr txBox="1"/>
          <p:nvPr/>
        </p:nvSpPr>
        <p:spPr>
          <a:xfrm>
            <a:off x="5983459" y="3239345"/>
            <a:ext cx="75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ATG</a:t>
            </a:r>
            <a:endParaRPr kumimoji="1" lang="zh-TW" altLang="en-US" b="1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1AE30A4D-A561-2BFF-C88B-95F81F6D6AC0}"/>
              </a:ext>
            </a:extLst>
          </p:cNvPr>
          <p:cNvSpPr txBox="1"/>
          <p:nvPr/>
        </p:nvSpPr>
        <p:spPr>
          <a:xfrm>
            <a:off x="7210279" y="3235773"/>
            <a:ext cx="75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CTG</a:t>
            </a:r>
            <a:endParaRPr kumimoji="1" lang="zh-TW" altLang="en-US" dirty="0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8F21B8B-362F-CD9C-AFBB-C367812BCAB3}"/>
              </a:ext>
            </a:extLst>
          </p:cNvPr>
          <p:cNvSpPr/>
          <p:nvPr/>
        </p:nvSpPr>
        <p:spPr>
          <a:xfrm>
            <a:off x="7859152" y="3299333"/>
            <a:ext cx="534572" cy="253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AD137180-9867-D801-6B0A-C1B8A72DB7D1}"/>
              </a:ext>
            </a:extLst>
          </p:cNvPr>
          <p:cNvCxnSpPr>
            <a:cxnSpLocks/>
          </p:cNvCxnSpPr>
          <p:nvPr/>
        </p:nvCxnSpPr>
        <p:spPr>
          <a:xfrm>
            <a:off x="8393724" y="3425942"/>
            <a:ext cx="7174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9DED8471-4CB7-81D0-20C1-07B575EFBF61}"/>
              </a:ext>
            </a:extLst>
          </p:cNvPr>
          <p:cNvSpPr txBox="1"/>
          <p:nvPr/>
        </p:nvSpPr>
        <p:spPr>
          <a:xfrm>
            <a:off x="8462303" y="3241275"/>
            <a:ext cx="759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CTG</a:t>
            </a:r>
            <a:endParaRPr kumimoji="1" lang="zh-TW" altLang="en-US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967B124-5DC0-FD90-A231-CB85AA00D4E0}"/>
              </a:ext>
            </a:extLst>
          </p:cNvPr>
          <p:cNvSpPr/>
          <p:nvPr/>
        </p:nvSpPr>
        <p:spPr>
          <a:xfrm>
            <a:off x="5849963" y="5143629"/>
            <a:ext cx="1284996" cy="253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EC797847-2E78-C3F3-EDA6-EB09CF52801A}"/>
              </a:ext>
            </a:extLst>
          </p:cNvPr>
          <p:cNvSpPr txBox="1"/>
          <p:nvPr/>
        </p:nvSpPr>
        <p:spPr>
          <a:xfrm>
            <a:off x="5307623" y="5097161"/>
            <a:ext cx="64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CTG</a:t>
            </a:r>
            <a:endParaRPr kumimoji="1" lang="zh-TW" altLang="en-US" b="1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AFBD4C6-430F-2A0E-75B5-F5717CEDDDB3}"/>
              </a:ext>
            </a:extLst>
          </p:cNvPr>
          <p:cNvSpPr/>
          <p:nvPr/>
        </p:nvSpPr>
        <p:spPr>
          <a:xfrm>
            <a:off x="2654106" y="4784365"/>
            <a:ext cx="1658228" cy="311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75AF69D-3759-834D-C515-A5425BF78950}"/>
              </a:ext>
            </a:extLst>
          </p:cNvPr>
          <p:cNvSpPr/>
          <p:nvPr/>
        </p:nvSpPr>
        <p:spPr>
          <a:xfrm>
            <a:off x="4996081" y="4786295"/>
            <a:ext cx="311541" cy="2835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4A12833D-7EA0-8959-2242-0F3712B5A1EC}"/>
              </a:ext>
            </a:extLst>
          </p:cNvPr>
          <p:cNvCxnSpPr>
            <a:cxnSpLocks/>
            <a:stCxn id="82" idx="3"/>
            <a:endCxn id="83" idx="1"/>
          </p:cNvCxnSpPr>
          <p:nvPr/>
        </p:nvCxnSpPr>
        <p:spPr>
          <a:xfrm flipV="1">
            <a:off x="4312334" y="4928066"/>
            <a:ext cx="683747" cy="119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DF6CBF9-9727-6B4E-BCF5-8DBA97C767D2}"/>
              </a:ext>
            </a:extLst>
          </p:cNvPr>
          <p:cNvSpPr txBox="1"/>
          <p:nvPr/>
        </p:nvSpPr>
        <p:spPr>
          <a:xfrm>
            <a:off x="4340762" y="4743399"/>
            <a:ext cx="64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ATG</a:t>
            </a:r>
            <a:endParaRPr kumimoji="1" lang="zh-TW" altLang="en-US" b="1" dirty="0"/>
          </a:p>
        </p:txBody>
      </p:sp>
      <p:cxnSp>
        <p:nvCxnSpPr>
          <p:cNvPr id="86" name="直線接點 85">
            <a:extLst>
              <a:ext uri="{FF2B5EF4-FFF2-40B4-BE49-F238E27FC236}">
                <a16:creationId xmlns:a16="http://schemas.microsoft.com/office/drawing/2014/main" id="{64ADC608-C54A-8528-7508-8BB17C4FE789}"/>
              </a:ext>
            </a:extLst>
          </p:cNvPr>
          <p:cNvCxnSpPr>
            <a:cxnSpLocks/>
            <a:stCxn id="83" idx="3"/>
            <a:endCxn id="88" idx="1"/>
          </p:cNvCxnSpPr>
          <p:nvPr/>
        </p:nvCxnSpPr>
        <p:spPr>
          <a:xfrm flipV="1">
            <a:off x="5307622" y="4916476"/>
            <a:ext cx="542340" cy="11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0944759E-8E99-36BD-9095-2D9454994BEA}"/>
              </a:ext>
            </a:extLst>
          </p:cNvPr>
          <p:cNvSpPr txBox="1"/>
          <p:nvPr/>
        </p:nvSpPr>
        <p:spPr>
          <a:xfrm>
            <a:off x="9641058" y="4700506"/>
            <a:ext cx="1576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positive</a:t>
            </a:r>
            <a:endParaRPr kumimoji="1" lang="zh-TW" altLang="en-US" dirty="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6677003B-5B86-0C28-5E42-D7EB5678C8C6}"/>
              </a:ext>
            </a:extLst>
          </p:cNvPr>
          <p:cNvSpPr/>
          <p:nvPr/>
        </p:nvSpPr>
        <p:spPr>
          <a:xfrm>
            <a:off x="5849962" y="4789867"/>
            <a:ext cx="1284996" cy="253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9B997A0E-A8B8-600C-FAC3-7C18C970C971}"/>
              </a:ext>
            </a:extLst>
          </p:cNvPr>
          <p:cNvSpPr txBox="1"/>
          <p:nvPr/>
        </p:nvSpPr>
        <p:spPr>
          <a:xfrm>
            <a:off x="5307622" y="4743399"/>
            <a:ext cx="64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CTG</a:t>
            </a:r>
            <a:endParaRPr kumimoji="1" lang="zh-TW" altLang="en-US" dirty="0"/>
          </a:p>
        </p:txBody>
      </p:sp>
      <p:sp>
        <p:nvSpPr>
          <p:cNvPr id="91" name="左大括弧 90">
            <a:extLst>
              <a:ext uri="{FF2B5EF4-FFF2-40B4-BE49-F238E27FC236}">
                <a16:creationId xmlns:a16="http://schemas.microsoft.com/office/drawing/2014/main" id="{F0A94AE7-7CF1-799F-4BAD-238F2AB23869}"/>
              </a:ext>
            </a:extLst>
          </p:cNvPr>
          <p:cNvSpPr/>
          <p:nvPr/>
        </p:nvSpPr>
        <p:spPr>
          <a:xfrm>
            <a:off x="2061063" y="3287709"/>
            <a:ext cx="366639" cy="120905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2" name="左大括弧 91">
            <a:extLst>
              <a:ext uri="{FF2B5EF4-FFF2-40B4-BE49-F238E27FC236}">
                <a16:creationId xmlns:a16="http://schemas.microsoft.com/office/drawing/2014/main" id="{0F9FE6EF-9531-D637-30AB-48C0BDABF6C8}"/>
              </a:ext>
            </a:extLst>
          </p:cNvPr>
          <p:cNvSpPr/>
          <p:nvPr/>
        </p:nvSpPr>
        <p:spPr>
          <a:xfrm>
            <a:off x="2067362" y="4700506"/>
            <a:ext cx="366639" cy="76598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A98FCFD8-3FE3-9DAD-7A0C-8823C070D45F}"/>
              </a:ext>
            </a:extLst>
          </p:cNvPr>
          <p:cNvSpPr txBox="1"/>
          <p:nvPr/>
        </p:nvSpPr>
        <p:spPr>
          <a:xfrm>
            <a:off x="679939" y="3715524"/>
            <a:ext cx="1447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Same group</a:t>
            </a:r>
            <a:endParaRPr kumimoji="1" lang="zh-TW" altLang="en-US" dirty="0"/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611E174B-733A-24AF-D55F-2A59795CFBC2}"/>
              </a:ext>
            </a:extLst>
          </p:cNvPr>
          <p:cNvSpPr txBox="1"/>
          <p:nvPr/>
        </p:nvSpPr>
        <p:spPr>
          <a:xfrm>
            <a:off x="656783" y="4877985"/>
            <a:ext cx="1447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Same group</a:t>
            </a:r>
            <a:endParaRPr kumimoji="1"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7E8A71-95A3-3812-EACF-3E4B8569B37D}"/>
              </a:ext>
            </a:extLst>
          </p:cNvPr>
          <p:cNvSpPr/>
          <p:nvPr/>
        </p:nvSpPr>
        <p:spPr>
          <a:xfrm>
            <a:off x="6616505" y="199176"/>
            <a:ext cx="3143131" cy="235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train</a:t>
            </a:r>
            <a:endParaRPr kumimoji="1"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904C71-B0C8-C519-E2E1-C51D7399B9F8}"/>
              </a:ext>
            </a:extLst>
          </p:cNvPr>
          <p:cNvSpPr/>
          <p:nvPr/>
        </p:nvSpPr>
        <p:spPr>
          <a:xfrm>
            <a:off x="9782234" y="199176"/>
            <a:ext cx="529663" cy="23539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 err="1"/>
              <a:t>val</a:t>
            </a:r>
            <a:endParaRPr kumimoji="1"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3C682E-AE31-3A8A-151D-D566C1B9E82F}"/>
              </a:ext>
            </a:extLst>
          </p:cNvPr>
          <p:cNvSpPr/>
          <p:nvPr/>
        </p:nvSpPr>
        <p:spPr>
          <a:xfrm>
            <a:off x="10311897" y="192362"/>
            <a:ext cx="915293" cy="24220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test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1768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B9C2409-077D-8174-6EDD-06F5FF4AF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1E4DAE-0527-B0E1-230B-41BC351A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Sample</a:t>
            </a:r>
            <a:r>
              <a:rPr kumimoji="1" lang="zh-TW" altLang="en-US" dirty="0"/>
              <a:t> </a:t>
            </a:r>
            <a:r>
              <a:rPr kumimoji="1" lang="en-US" altLang="zh-TW" dirty="0"/>
              <a:t>Grouping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Based</a:t>
            </a:r>
            <a:r>
              <a:rPr kumimoji="1" lang="zh-TW" altLang="en-US" dirty="0"/>
              <a:t> </a:t>
            </a:r>
            <a:r>
              <a:rPr kumimoji="1" lang="en-US" altLang="zh-TW" dirty="0"/>
              <a:t>on</a:t>
            </a:r>
            <a:r>
              <a:rPr kumimoji="1" lang="zh-TW" altLang="en-US" dirty="0"/>
              <a:t> </a:t>
            </a:r>
            <a:r>
              <a:rPr kumimoji="1" lang="en-US" altLang="zh-TW" dirty="0"/>
              <a:t>Sequence</a:t>
            </a:r>
            <a:r>
              <a:rPr kumimoji="1" lang="zh-TW" altLang="en-US" dirty="0"/>
              <a:t> </a:t>
            </a:r>
            <a:r>
              <a:rPr kumimoji="1" lang="en-US" altLang="zh-TW" dirty="0"/>
              <a:t>Similarity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0300EC-633A-2746-D624-1432EFEF9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Instead</a:t>
            </a:r>
            <a:r>
              <a:rPr kumimoji="1" lang="zh-TW" altLang="en-US" dirty="0"/>
              <a:t> </a:t>
            </a:r>
            <a:r>
              <a:rPr kumimoji="1" lang="en-US" altLang="zh-TW" dirty="0"/>
              <a:t>using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gene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group,</a:t>
            </a:r>
            <a:r>
              <a:rPr kumimoji="1" lang="zh-TW" altLang="en-US" dirty="0"/>
              <a:t> </a:t>
            </a:r>
            <a:r>
              <a:rPr kumimoji="1" lang="en-US" altLang="zh-TW" dirty="0"/>
              <a:t>group</a:t>
            </a:r>
            <a:r>
              <a:rPr kumimoji="1" lang="zh-TW" altLang="en-US" dirty="0"/>
              <a:t> </a:t>
            </a:r>
            <a:r>
              <a:rPr kumimoji="1" lang="en-US" altLang="zh-TW" dirty="0"/>
              <a:t>RNA</a:t>
            </a:r>
            <a:r>
              <a:rPr kumimoji="1" lang="zh-TW" altLang="en-US" dirty="0"/>
              <a:t> </a:t>
            </a:r>
            <a:r>
              <a:rPr kumimoji="1" lang="en-US" altLang="zh-TW" dirty="0"/>
              <a:t>on</a:t>
            </a:r>
            <a:r>
              <a:rPr kumimoji="1" lang="zh-TW" altLang="en-US" dirty="0"/>
              <a:t> </a:t>
            </a:r>
            <a:r>
              <a:rPr kumimoji="1" lang="en-US" altLang="zh-TW" dirty="0"/>
              <a:t>sequence</a:t>
            </a:r>
            <a:r>
              <a:rPr kumimoji="1" lang="zh-TW" altLang="en-US" dirty="0"/>
              <a:t> </a:t>
            </a:r>
            <a:r>
              <a:rPr kumimoji="1" lang="en-US" altLang="zh-TW" dirty="0"/>
              <a:t>similarity</a:t>
            </a:r>
            <a:r>
              <a:rPr kumimoji="1" lang="zh-TW" altLang="en-US" dirty="0"/>
              <a:t> </a:t>
            </a:r>
            <a:r>
              <a:rPr kumimoji="1" lang="en-US" altLang="zh-TW" dirty="0"/>
              <a:t>by</a:t>
            </a:r>
            <a:r>
              <a:rPr kumimoji="1" lang="zh-TW" altLang="en-US" dirty="0"/>
              <a:t> </a:t>
            </a:r>
            <a:r>
              <a:rPr kumimoji="1" lang="en-US" altLang="zh-TW" b="1" dirty="0" err="1"/>
              <a:t>mmseqs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6E837B-759C-6D98-9230-D7F27D6BCCE3}"/>
              </a:ext>
            </a:extLst>
          </p:cNvPr>
          <p:cNvSpPr/>
          <p:nvPr/>
        </p:nvSpPr>
        <p:spPr>
          <a:xfrm>
            <a:off x="6616505" y="199176"/>
            <a:ext cx="3143131" cy="235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train</a:t>
            </a:r>
            <a:endParaRPr kumimoji="1"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7DF4C5-B170-CE65-8DB6-F3E4588302D2}"/>
              </a:ext>
            </a:extLst>
          </p:cNvPr>
          <p:cNvSpPr/>
          <p:nvPr/>
        </p:nvSpPr>
        <p:spPr>
          <a:xfrm>
            <a:off x="9782234" y="199176"/>
            <a:ext cx="529663" cy="23539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 err="1"/>
              <a:t>val</a:t>
            </a:r>
            <a:endParaRPr kumimoji="1"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66CF09-7762-8338-03E7-7BF2A95F1D0C}"/>
              </a:ext>
            </a:extLst>
          </p:cNvPr>
          <p:cNvSpPr/>
          <p:nvPr/>
        </p:nvSpPr>
        <p:spPr>
          <a:xfrm>
            <a:off x="10311897" y="192362"/>
            <a:ext cx="915293" cy="24220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test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D33F043-3B87-8152-9598-6DD451E553AF}"/>
              </a:ext>
            </a:extLst>
          </p:cNvPr>
          <p:cNvSpPr txBox="1"/>
          <p:nvPr/>
        </p:nvSpPr>
        <p:spPr>
          <a:xfrm>
            <a:off x="1759802" y="2782669"/>
            <a:ext cx="80224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/>
              <a:t>default</a:t>
            </a:r>
            <a:r>
              <a:rPr kumimoji="1" lang="zh-TW" altLang="en-US" dirty="0"/>
              <a:t> </a:t>
            </a:r>
            <a:r>
              <a:rPr kumimoji="1" lang="en-US" altLang="zh-TW" dirty="0"/>
              <a:t>parameter:</a:t>
            </a:r>
            <a:r>
              <a:rPr kumimoji="1" lang="zh-TW" altLang="en-US" dirty="0"/>
              <a:t> </a:t>
            </a:r>
            <a:endParaRPr lang="en-US" altLang="zh-TW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mmseqs easy-cluster examples/DB.fasta clusterRes tmp --min-seq-id 0.5 -c 0.8 --cov-mode 1</a:t>
            </a:r>
          </a:p>
        </p:txBody>
      </p:sp>
    </p:spTree>
    <p:extLst>
      <p:ext uri="{BB962C8B-B14F-4D97-AF65-F5344CB8AC3E}">
        <p14:creationId xmlns:p14="http://schemas.microsoft.com/office/powerpoint/2010/main" val="2368269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39853-DA29-CCA6-2CDB-98758725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D65CB9-299C-8FE4-103E-D555BEBD8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Helvetica Neue" panose="02000503000000020004" pitchFamily="2" charset="0"/>
              </a:rPr>
              <a:t>FT on Pretrained RNA model -- </a:t>
            </a:r>
            <a:r>
              <a:rPr lang="en-US" altLang="zh-TW" dirty="0" err="1">
                <a:solidFill>
                  <a:srgbClr val="000000"/>
                </a:solidFill>
                <a:latin typeface="Helvetica Neue" panose="02000503000000020004" pitchFamily="2" charset="0"/>
              </a:rPr>
              <a:t>RiNALMo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303A99-8FEB-2254-A480-FA01171B9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Self-supervise learning from ncRNA</a:t>
            </a:r>
          </a:p>
          <a:p>
            <a:r>
              <a:rPr kumimoji="1" lang="en-US" altLang="zh-TW" dirty="0" err="1"/>
              <a:t>LoRA</a:t>
            </a:r>
            <a:r>
              <a:rPr kumimoji="1" lang="en-US" altLang="zh-TW" dirty="0"/>
              <a:t> based PEFT (</a:t>
            </a:r>
            <a:r>
              <a:rPr kumimoji="1" lang="en-US" altLang="zh-TW" dirty="0" err="1"/>
              <a:t>DoRA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pic>
        <p:nvPicPr>
          <p:cNvPr id="2050" name="Picture 2" descr="Parameter Efficient Fine Tuning (PEFT), Inference, and Evaluation ...">
            <a:extLst>
              <a:ext uri="{FF2B5EF4-FFF2-40B4-BE49-F238E27FC236}">
                <a16:creationId xmlns:a16="http://schemas.microsoft.com/office/drawing/2014/main" id="{9AAE2CB7-FFBA-172E-67C0-9D19B7708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42" y="3283899"/>
            <a:ext cx="5593658" cy="305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LoRA">
            <a:extLst>
              <a:ext uri="{FF2B5EF4-FFF2-40B4-BE49-F238E27FC236}">
                <a16:creationId xmlns:a16="http://schemas.microsoft.com/office/drawing/2014/main" id="{4197DB75-46D1-1D94-FCCB-072352829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024"/>
          <a:stretch>
            <a:fillRect/>
          </a:stretch>
        </p:blipFill>
        <p:spPr bwMode="auto">
          <a:xfrm>
            <a:off x="7385804" y="2958675"/>
            <a:ext cx="3837368" cy="353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0528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71D32-5B4A-DBB9-B5B8-42B79F5D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C32698-DDF8-D6D8-8C6A-CBCF9446D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LoRA</a:t>
            </a:r>
            <a:endParaRPr kumimoji="1" lang="zh-TW" altLang="en-US" dirty="0"/>
          </a:p>
        </p:txBody>
      </p:sp>
      <p:pic>
        <p:nvPicPr>
          <p:cNvPr id="4" name="Picture 4" descr="LoRA">
            <a:extLst>
              <a:ext uri="{FF2B5EF4-FFF2-40B4-BE49-F238E27FC236}">
                <a16:creationId xmlns:a16="http://schemas.microsoft.com/office/drawing/2014/main" id="{6792259C-9932-2E52-403B-29BF4936A2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950" y="2324894"/>
            <a:ext cx="79121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2510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CAAE0E-3CA8-D069-E87F-AC3B0770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Training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/</a:t>
            </a:r>
            <a:r>
              <a:rPr kumimoji="1" lang="zh-TW" altLang="en-US" dirty="0"/>
              <a:t> </a:t>
            </a:r>
            <a:r>
              <a:rPr kumimoji="1" lang="en-US" altLang="zh-TW" dirty="0"/>
              <a:t>Evaluation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Flow</a:t>
            </a:r>
            <a:r>
              <a:rPr kumimoji="1" lang="zh-TW" altLang="en-US" dirty="0"/>
              <a:t> </a:t>
            </a:r>
            <a:r>
              <a:rPr kumimoji="1" lang="en-US" altLang="zh-TW" dirty="0"/>
              <a:t>(two</a:t>
            </a:r>
            <a:r>
              <a:rPr kumimoji="1" lang="zh-TW" altLang="en-US" dirty="0"/>
              <a:t> </a:t>
            </a:r>
            <a:r>
              <a:rPr kumimoji="1" lang="en-US" altLang="zh-TW" dirty="0"/>
              <a:t>variant)</a:t>
            </a:r>
            <a:endParaRPr kumimoji="1"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0445D3-82FC-916E-E8B5-5E902B9DC880}"/>
              </a:ext>
            </a:extLst>
          </p:cNvPr>
          <p:cNvSpPr/>
          <p:nvPr/>
        </p:nvSpPr>
        <p:spPr>
          <a:xfrm>
            <a:off x="2792052" y="3444493"/>
            <a:ext cx="3695391" cy="2428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train</a:t>
            </a:r>
            <a:endParaRPr kumimoji="1"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8D507F-B517-F723-9169-906B48E4D2B1}"/>
              </a:ext>
            </a:extLst>
          </p:cNvPr>
          <p:cNvSpPr/>
          <p:nvPr/>
        </p:nvSpPr>
        <p:spPr>
          <a:xfrm>
            <a:off x="6487444" y="3444492"/>
            <a:ext cx="915293" cy="26607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test</a:t>
            </a:r>
            <a:endParaRPr kumimoji="1"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24505F-0B30-1E07-9FCC-2D80CED383C8}"/>
              </a:ext>
            </a:extLst>
          </p:cNvPr>
          <p:cNvSpPr/>
          <p:nvPr/>
        </p:nvSpPr>
        <p:spPr>
          <a:xfrm>
            <a:off x="2792052" y="4055209"/>
            <a:ext cx="2840173" cy="238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train</a:t>
            </a:r>
            <a:endParaRPr kumimoji="1"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865B6A-C32A-1AC3-689C-127594C4175A}"/>
              </a:ext>
            </a:extLst>
          </p:cNvPr>
          <p:cNvSpPr/>
          <p:nvPr/>
        </p:nvSpPr>
        <p:spPr>
          <a:xfrm>
            <a:off x="5635604" y="4053867"/>
            <a:ext cx="915293" cy="24220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test</a:t>
            </a:r>
            <a:endParaRPr kumimoji="1" lang="zh-TW" altLang="en-US" dirty="0"/>
          </a:p>
        </p:txBody>
      </p:sp>
      <p:sp>
        <p:nvSpPr>
          <p:cNvPr id="10" name="左大括弧 9">
            <a:extLst>
              <a:ext uri="{FF2B5EF4-FFF2-40B4-BE49-F238E27FC236}">
                <a16:creationId xmlns:a16="http://schemas.microsoft.com/office/drawing/2014/main" id="{6B5CA906-FEA0-8A42-25FC-8E60C1BD059E}"/>
              </a:ext>
            </a:extLst>
          </p:cNvPr>
          <p:cNvSpPr/>
          <p:nvPr/>
        </p:nvSpPr>
        <p:spPr>
          <a:xfrm>
            <a:off x="1361910" y="3209268"/>
            <a:ext cx="842963" cy="298608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3A83383-25D7-D004-91FE-251BDE643701}"/>
              </a:ext>
            </a:extLst>
          </p:cNvPr>
          <p:cNvSpPr txBox="1"/>
          <p:nvPr/>
        </p:nvSpPr>
        <p:spPr>
          <a:xfrm>
            <a:off x="176048" y="4280379"/>
            <a:ext cx="1185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5</a:t>
            </a:r>
            <a:r>
              <a:rPr kumimoji="1" lang="zh-TW" altLang="en-US" dirty="0"/>
              <a:t> </a:t>
            </a:r>
            <a:r>
              <a:rPr kumimoji="1" lang="en-US" altLang="zh-TW" dirty="0"/>
              <a:t>fold</a:t>
            </a:r>
            <a:r>
              <a:rPr kumimoji="1" lang="zh-TW" altLang="en-US" dirty="0"/>
              <a:t> </a:t>
            </a:r>
            <a:r>
              <a:rPr kumimoji="1" lang="en-US" altLang="zh-TW" dirty="0"/>
              <a:t>average</a:t>
            </a:r>
            <a:r>
              <a:rPr kumimoji="1" lang="zh-TW" altLang="en-US" dirty="0"/>
              <a:t> </a:t>
            </a:r>
            <a:r>
              <a:rPr kumimoji="1" lang="en-US" altLang="zh-TW" dirty="0"/>
              <a:t>on</a:t>
            </a:r>
            <a:r>
              <a:rPr kumimoji="1" lang="zh-TW" altLang="en-US" dirty="0"/>
              <a:t> </a:t>
            </a:r>
            <a:r>
              <a:rPr kumimoji="1" lang="en-US" altLang="zh-TW" dirty="0"/>
              <a:t>test</a:t>
            </a:r>
            <a:r>
              <a:rPr kumimoji="1" lang="zh-TW" altLang="en-US" dirty="0"/>
              <a:t> </a:t>
            </a:r>
            <a:r>
              <a:rPr kumimoji="1" lang="en-US" altLang="zh-TW" dirty="0"/>
              <a:t>set</a:t>
            </a:r>
            <a:endParaRPr kumimoji="1"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C081B65-AD48-48AB-0524-2E2252D1FBA7}"/>
              </a:ext>
            </a:extLst>
          </p:cNvPr>
          <p:cNvSpPr/>
          <p:nvPr/>
        </p:nvSpPr>
        <p:spPr>
          <a:xfrm>
            <a:off x="2792052" y="4635234"/>
            <a:ext cx="2028459" cy="2422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train</a:t>
            </a:r>
            <a:endParaRPr kumimoji="1"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916218-B6A3-D725-65AE-FD24DC331AA9}"/>
              </a:ext>
            </a:extLst>
          </p:cNvPr>
          <p:cNvSpPr/>
          <p:nvPr/>
        </p:nvSpPr>
        <p:spPr>
          <a:xfrm>
            <a:off x="4820512" y="4635233"/>
            <a:ext cx="915293" cy="24220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test</a:t>
            </a:r>
            <a:endParaRPr kumimoji="1"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CFEC7F-74AB-84F5-A56A-2116974F4733}"/>
              </a:ext>
            </a:extLst>
          </p:cNvPr>
          <p:cNvSpPr/>
          <p:nvPr/>
        </p:nvSpPr>
        <p:spPr>
          <a:xfrm>
            <a:off x="2792052" y="5251451"/>
            <a:ext cx="1078611" cy="2422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train</a:t>
            </a:r>
            <a:endParaRPr kumimoji="1"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5C88E3A-ECFA-55E2-D115-4377BB09604E}"/>
              </a:ext>
            </a:extLst>
          </p:cNvPr>
          <p:cNvSpPr/>
          <p:nvPr/>
        </p:nvSpPr>
        <p:spPr>
          <a:xfrm>
            <a:off x="2787212" y="5733447"/>
            <a:ext cx="915293" cy="24220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test</a:t>
            </a:r>
            <a:endParaRPr kumimoji="1" lang="zh-TW" altLang="en-US" dirty="0"/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4DBA0D13-E248-3715-64B1-953168D4CC94}"/>
              </a:ext>
            </a:extLst>
          </p:cNvPr>
          <p:cNvCxnSpPr/>
          <p:nvPr/>
        </p:nvCxnSpPr>
        <p:spPr>
          <a:xfrm>
            <a:off x="7762710" y="3451307"/>
            <a:ext cx="5000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BABCEFB-B65F-8B9C-688B-D68E15D2AB17}"/>
              </a:ext>
            </a:extLst>
          </p:cNvPr>
          <p:cNvSpPr txBox="1"/>
          <p:nvPr/>
        </p:nvSpPr>
        <p:spPr>
          <a:xfrm>
            <a:off x="8477084" y="3266641"/>
            <a:ext cx="30527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Trained</a:t>
            </a:r>
            <a:r>
              <a:rPr kumimoji="1" lang="zh-TW" altLang="en-US" dirty="0"/>
              <a:t> </a:t>
            </a:r>
            <a:r>
              <a:rPr kumimoji="1" lang="en-US" altLang="zh-TW" dirty="0"/>
              <a:t>with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previous</a:t>
            </a:r>
            <a:r>
              <a:rPr kumimoji="1" lang="zh-TW" altLang="en-US" dirty="0"/>
              <a:t> </a:t>
            </a:r>
            <a:r>
              <a:rPr kumimoji="1" lang="en-US" altLang="zh-TW" dirty="0"/>
              <a:t>determined</a:t>
            </a:r>
            <a:r>
              <a:rPr kumimoji="1" lang="zh-TW" altLang="en-US" dirty="0"/>
              <a:t> </a:t>
            </a:r>
            <a:r>
              <a:rPr kumimoji="1" lang="en-US" altLang="zh-TW" dirty="0"/>
              <a:t>hyperparameters</a:t>
            </a:r>
            <a:r>
              <a:rPr kumimoji="1" lang="zh-TW" altLang="en-US" dirty="0"/>
              <a:t> </a:t>
            </a:r>
            <a:r>
              <a:rPr kumimoji="1" lang="en-US" altLang="zh-TW" dirty="0"/>
              <a:t>in</a:t>
            </a:r>
            <a:r>
              <a:rPr kumimoji="1" lang="zh-TW" altLang="en-US" dirty="0"/>
              <a:t> </a:t>
            </a:r>
            <a:r>
              <a:rPr kumimoji="1" lang="en-US" altLang="zh-TW" dirty="0"/>
              <a:t>each</a:t>
            </a:r>
            <a:r>
              <a:rPr kumimoji="1" lang="zh-TW" altLang="en-US" dirty="0"/>
              <a:t> </a:t>
            </a:r>
            <a:r>
              <a:rPr kumimoji="1" lang="en-US" altLang="zh-TW" dirty="0"/>
              <a:t>fold,</a:t>
            </a:r>
            <a:r>
              <a:rPr kumimoji="1" lang="zh-TW" altLang="en-US" dirty="0"/>
              <a:t> </a:t>
            </a:r>
            <a:r>
              <a:rPr kumimoji="1" lang="en-US" altLang="zh-TW" dirty="0"/>
              <a:t>average</a:t>
            </a:r>
            <a:r>
              <a:rPr kumimoji="1" lang="zh-TW" altLang="en-US" dirty="0"/>
              <a:t> </a:t>
            </a:r>
            <a:r>
              <a:rPr kumimoji="1" lang="en-US" altLang="zh-TW" dirty="0"/>
              <a:t>test</a:t>
            </a:r>
            <a:r>
              <a:rPr kumimoji="1" lang="zh-TW" altLang="en-US" dirty="0"/>
              <a:t> </a:t>
            </a:r>
            <a:r>
              <a:rPr kumimoji="1" lang="en-US" altLang="zh-TW" dirty="0"/>
              <a:t>result</a:t>
            </a:r>
            <a:r>
              <a:rPr kumimoji="1" lang="zh-TW" altLang="en-US" dirty="0"/>
              <a:t> </a:t>
            </a:r>
            <a:r>
              <a:rPr kumimoji="1" lang="en-US" altLang="zh-TW" dirty="0"/>
              <a:t>from</a:t>
            </a:r>
            <a:r>
              <a:rPr kumimoji="1" lang="zh-TW" altLang="en-US" dirty="0"/>
              <a:t> </a:t>
            </a:r>
            <a:r>
              <a:rPr kumimoji="1" lang="en-US" altLang="zh-TW" dirty="0"/>
              <a:t>each</a:t>
            </a:r>
            <a:r>
              <a:rPr kumimoji="1" lang="zh-TW" altLang="en-US" dirty="0"/>
              <a:t> </a:t>
            </a:r>
            <a:r>
              <a:rPr kumimoji="1" lang="en-US" altLang="zh-TW" dirty="0"/>
              <a:t>fold</a:t>
            </a:r>
            <a:endParaRPr kumimoji="1" lang="zh-TW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CE805E5-EB39-0F9C-D0DF-1E90E8B4B06F}"/>
              </a:ext>
            </a:extLst>
          </p:cNvPr>
          <p:cNvSpPr/>
          <p:nvPr/>
        </p:nvSpPr>
        <p:spPr>
          <a:xfrm>
            <a:off x="6559775" y="4051802"/>
            <a:ext cx="842962" cy="2422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train</a:t>
            </a:r>
            <a:endParaRPr kumimoji="1" lang="zh-TW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AC63729-75D2-B994-3721-A08E931C08D1}"/>
              </a:ext>
            </a:extLst>
          </p:cNvPr>
          <p:cNvSpPr/>
          <p:nvPr/>
        </p:nvSpPr>
        <p:spPr>
          <a:xfrm>
            <a:off x="5735805" y="4635233"/>
            <a:ext cx="1666931" cy="2456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train</a:t>
            </a:r>
            <a:endParaRPr kumimoji="1" lang="zh-TW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3C14303-8A82-5D94-79AD-C20432013404}"/>
              </a:ext>
            </a:extLst>
          </p:cNvPr>
          <p:cNvSpPr/>
          <p:nvPr/>
        </p:nvSpPr>
        <p:spPr>
          <a:xfrm>
            <a:off x="3888512" y="5248384"/>
            <a:ext cx="915293" cy="24833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test</a:t>
            </a:r>
            <a:endParaRPr kumimoji="1" lang="zh-TW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EF15C11-37E0-840E-A570-A7B5D8E4707F}"/>
              </a:ext>
            </a:extLst>
          </p:cNvPr>
          <p:cNvSpPr/>
          <p:nvPr/>
        </p:nvSpPr>
        <p:spPr>
          <a:xfrm>
            <a:off x="4803805" y="5245318"/>
            <a:ext cx="2598931" cy="232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train</a:t>
            </a:r>
            <a:endParaRPr kumimoji="1"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FF1CF66-DFB7-6243-9BB2-6668B8285502}"/>
              </a:ext>
            </a:extLst>
          </p:cNvPr>
          <p:cNvSpPr/>
          <p:nvPr/>
        </p:nvSpPr>
        <p:spPr>
          <a:xfrm>
            <a:off x="3702505" y="5733447"/>
            <a:ext cx="3700231" cy="2422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train</a:t>
            </a:r>
            <a:endParaRPr kumimoji="1"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957ADEF-E02A-CACA-7D22-FB251CF86055}"/>
              </a:ext>
            </a:extLst>
          </p:cNvPr>
          <p:cNvSpPr/>
          <p:nvPr/>
        </p:nvSpPr>
        <p:spPr>
          <a:xfrm>
            <a:off x="2792051" y="2263598"/>
            <a:ext cx="3143131" cy="235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train</a:t>
            </a:r>
            <a:endParaRPr kumimoji="1"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2C851F9-9AC6-0F8C-5870-95E5963DA8D0}"/>
              </a:ext>
            </a:extLst>
          </p:cNvPr>
          <p:cNvSpPr/>
          <p:nvPr/>
        </p:nvSpPr>
        <p:spPr>
          <a:xfrm>
            <a:off x="5957780" y="2263598"/>
            <a:ext cx="529663" cy="23539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 err="1"/>
              <a:t>val</a:t>
            </a:r>
            <a:endParaRPr kumimoji="1"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A2F4705-C66D-DB86-7067-76E0B25A5C6F}"/>
              </a:ext>
            </a:extLst>
          </p:cNvPr>
          <p:cNvSpPr/>
          <p:nvPr/>
        </p:nvSpPr>
        <p:spPr>
          <a:xfrm>
            <a:off x="6510041" y="2263596"/>
            <a:ext cx="892695" cy="23539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test</a:t>
            </a:r>
            <a:endParaRPr kumimoji="1" lang="zh-TW" altLang="en-US" dirty="0"/>
          </a:p>
        </p:txBody>
      </p: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AC80C2B7-DE32-9361-232E-215D6E0738D2}"/>
              </a:ext>
            </a:extLst>
          </p:cNvPr>
          <p:cNvCxnSpPr/>
          <p:nvPr/>
        </p:nvCxnSpPr>
        <p:spPr>
          <a:xfrm>
            <a:off x="7762709" y="2263598"/>
            <a:ext cx="5000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45462984-5AE3-2F65-BD2D-100BB455FFC0}"/>
              </a:ext>
            </a:extLst>
          </p:cNvPr>
          <p:cNvSpPr txBox="1"/>
          <p:nvPr/>
        </p:nvSpPr>
        <p:spPr>
          <a:xfrm>
            <a:off x="8477084" y="2078932"/>
            <a:ext cx="30527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Select</a:t>
            </a:r>
            <a:r>
              <a:rPr kumimoji="1" lang="zh-TW" altLang="en-US" dirty="0"/>
              <a:t> </a:t>
            </a:r>
            <a:r>
              <a:rPr kumimoji="1" lang="en-US" altLang="zh-TW" dirty="0"/>
              <a:t>candidate</a:t>
            </a:r>
            <a:r>
              <a:rPr kumimoji="1" lang="zh-TW" altLang="en-US" dirty="0"/>
              <a:t> </a:t>
            </a:r>
            <a:r>
              <a:rPr kumimoji="1" lang="en-US" altLang="zh-TW" dirty="0"/>
              <a:t>hyperparameters</a:t>
            </a:r>
            <a:r>
              <a:rPr kumimoji="1" lang="zh-TW" altLang="en-US" dirty="0"/>
              <a:t>  </a:t>
            </a:r>
            <a:r>
              <a:rPr kumimoji="1" lang="en-US" altLang="zh-TW" dirty="0"/>
              <a:t>by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val</a:t>
            </a:r>
            <a:r>
              <a:rPr kumimoji="1" lang="zh-TW" altLang="en-US" dirty="0"/>
              <a:t> </a:t>
            </a:r>
            <a:r>
              <a:rPr kumimoji="1" lang="en-US" altLang="zh-TW" dirty="0"/>
              <a:t>set;</a:t>
            </a:r>
            <a:r>
              <a:rPr kumimoji="1" lang="zh-TW" altLang="en-US" dirty="0"/>
              <a:t> </a:t>
            </a:r>
            <a:r>
              <a:rPr kumimoji="1" lang="en-US" altLang="zh-TW" dirty="0"/>
              <a:t>evaluate</a:t>
            </a:r>
            <a:r>
              <a:rPr kumimoji="1" lang="zh-TW" altLang="en-US" dirty="0"/>
              <a:t> </a:t>
            </a:r>
            <a:r>
              <a:rPr kumimoji="1" lang="en-US" altLang="zh-TW" dirty="0"/>
              <a:t>by</a:t>
            </a:r>
            <a:r>
              <a:rPr kumimoji="1" lang="zh-TW" altLang="en-US" dirty="0"/>
              <a:t> </a:t>
            </a:r>
            <a:r>
              <a:rPr kumimoji="1" lang="en-US" altLang="zh-TW" dirty="0"/>
              <a:t>test</a:t>
            </a:r>
            <a:r>
              <a:rPr kumimoji="1" lang="zh-TW" altLang="en-US" dirty="0"/>
              <a:t> </a:t>
            </a:r>
            <a:r>
              <a:rPr kumimoji="1" lang="en-US" altLang="zh-TW" dirty="0"/>
              <a:t>set</a:t>
            </a:r>
            <a:endParaRPr kumimoji="1" lang="zh-TW" altLang="en-US" dirty="0"/>
          </a:p>
        </p:txBody>
      </p:sp>
      <p:sp>
        <p:nvSpPr>
          <p:cNvPr id="35" name="左大括弧 34">
            <a:extLst>
              <a:ext uri="{FF2B5EF4-FFF2-40B4-BE49-F238E27FC236}">
                <a16:creationId xmlns:a16="http://schemas.microsoft.com/office/drawing/2014/main" id="{EA62BB79-28AC-E76E-0988-8D0C6022D94B}"/>
              </a:ext>
            </a:extLst>
          </p:cNvPr>
          <p:cNvSpPr/>
          <p:nvPr/>
        </p:nvSpPr>
        <p:spPr>
          <a:xfrm>
            <a:off x="1353373" y="2193653"/>
            <a:ext cx="842963" cy="53160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34A3AC0-462C-FD2F-8142-69CC78F4B498}"/>
              </a:ext>
            </a:extLst>
          </p:cNvPr>
          <p:cNvSpPr txBox="1"/>
          <p:nvPr/>
        </p:nvSpPr>
        <p:spPr>
          <a:xfrm>
            <a:off x="167511" y="2078932"/>
            <a:ext cx="1185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Single</a:t>
            </a:r>
            <a:r>
              <a:rPr kumimoji="1" lang="zh-TW" altLang="en-US" dirty="0"/>
              <a:t> </a:t>
            </a:r>
            <a:r>
              <a:rPr kumimoji="1" lang="en-US" altLang="zh-TW" dirty="0"/>
              <a:t>fold</a:t>
            </a:r>
            <a:endParaRPr kumimoji="1"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750DF850-8776-2CC4-19F5-7BCE725130C8}"/>
              </a:ext>
            </a:extLst>
          </p:cNvPr>
          <p:cNvSpPr txBox="1"/>
          <p:nvPr/>
        </p:nvSpPr>
        <p:spPr>
          <a:xfrm>
            <a:off x="4029740" y="1889528"/>
            <a:ext cx="3895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0.7		</a:t>
            </a:r>
            <a:r>
              <a:rPr kumimoji="1" lang="zh-TW" altLang="en-US" dirty="0"/>
              <a:t>  </a:t>
            </a:r>
            <a:r>
              <a:rPr kumimoji="1" lang="en-US" altLang="zh-TW" dirty="0"/>
              <a:t>0.1</a:t>
            </a:r>
            <a:r>
              <a:rPr kumimoji="1" lang="zh-TW" altLang="en-US" dirty="0"/>
              <a:t>         </a:t>
            </a:r>
            <a:r>
              <a:rPr kumimoji="1" lang="en-US" altLang="zh-TW" dirty="0"/>
              <a:t>0.2	</a:t>
            </a:r>
            <a:endParaRPr kumimoji="1" lang="zh-TW" altLang="en-US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BFFEBE38-FC71-5D4B-8119-399C31F936FA}"/>
              </a:ext>
            </a:extLst>
          </p:cNvPr>
          <p:cNvSpPr txBox="1"/>
          <p:nvPr/>
        </p:nvSpPr>
        <p:spPr>
          <a:xfrm>
            <a:off x="4044827" y="3075159"/>
            <a:ext cx="3895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0.8</a:t>
            </a:r>
            <a:r>
              <a:rPr kumimoji="1" lang="zh-TW" altLang="en-US" dirty="0"/>
              <a:t>                                                  </a:t>
            </a:r>
            <a:r>
              <a:rPr kumimoji="1" lang="en-US" altLang="zh-TW" dirty="0"/>
              <a:t>0.2	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1635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D50C1-6A52-3A37-AE37-A2D170BCA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0667F2-15E1-1B1F-82C2-D435E3978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45403"/>
            <a:ext cx="10515600" cy="1711833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Performance</a:t>
            </a:r>
            <a:r>
              <a:rPr kumimoji="1" lang="zh-TW" altLang="en-US" dirty="0"/>
              <a:t>  </a:t>
            </a:r>
            <a:r>
              <a:rPr kumimoji="1" lang="en-US" altLang="zh-TW" dirty="0"/>
              <a:t>- Compare to </a:t>
            </a:r>
            <a:r>
              <a:rPr kumimoji="1" lang="en-US" altLang="zh-TW" dirty="0" err="1"/>
              <a:t>TISCalling</a:t>
            </a:r>
            <a:endParaRPr kumimoji="1"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216CF470-678C-3F06-E442-F7E019F429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572280"/>
              </p:ext>
            </p:extLst>
          </p:nvPr>
        </p:nvGraphicFramePr>
        <p:xfrm>
          <a:off x="1003479" y="2034472"/>
          <a:ext cx="10185042" cy="411005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67788">
                  <a:extLst>
                    <a:ext uri="{9D8B030D-6E8A-4147-A177-3AD203B41FA5}">
                      <a16:colId xmlns:a16="http://schemas.microsoft.com/office/drawing/2014/main" val="3956614177"/>
                    </a:ext>
                  </a:extLst>
                </a:gridCol>
                <a:gridCol w="699563">
                  <a:extLst>
                    <a:ext uri="{9D8B030D-6E8A-4147-A177-3AD203B41FA5}">
                      <a16:colId xmlns:a16="http://schemas.microsoft.com/office/drawing/2014/main" val="716285815"/>
                    </a:ext>
                  </a:extLst>
                </a:gridCol>
                <a:gridCol w="1733675">
                  <a:extLst>
                    <a:ext uri="{9D8B030D-6E8A-4147-A177-3AD203B41FA5}">
                      <a16:colId xmlns:a16="http://schemas.microsoft.com/office/drawing/2014/main" val="1127878265"/>
                    </a:ext>
                  </a:extLst>
                </a:gridCol>
                <a:gridCol w="1112154">
                  <a:extLst>
                    <a:ext uri="{9D8B030D-6E8A-4147-A177-3AD203B41FA5}">
                      <a16:colId xmlns:a16="http://schemas.microsoft.com/office/drawing/2014/main" val="1424064493"/>
                    </a:ext>
                  </a:extLst>
                </a:gridCol>
                <a:gridCol w="1112154">
                  <a:extLst>
                    <a:ext uri="{9D8B030D-6E8A-4147-A177-3AD203B41FA5}">
                      <a16:colId xmlns:a16="http://schemas.microsoft.com/office/drawing/2014/main" val="4241746619"/>
                    </a:ext>
                  </a:extLst>
                </a:gridCol>
                <a:gridCol w="1379854">
                  <a:extLst>
                    <a:ext uri="{9D8B030D-6E8A-4147-A177-3AD203B41FA5}">
                      <a16:colId xmlns:a16="http://schemas.microsoft.com/office/drawing/2014/main" val="1594980136"/>
                    </a:ext>
                  </a:extLst>
                </a:gridCol>
                <a:gridCol w="1379854">
                  <a:extLst>
                    <a:ext uri="{9D8B030D-6E8A-4147-A177-3AD203B41FA5}">
                      <a16:colId xmlns:a16="http://schemas.microsoft.com/office/drawing/2014/main" val="89536757"/>
                    </a:ext>
                  </a:extLst>
                </a:gridCol>
              </a:tblGrid>
              <a:tr h="3312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Model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Context (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nt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category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Avg</a:t>
                      </a:r>
                      <a:r>
                        <a:rPr lang="zh-TW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altLang="zh-TW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Test</a:t>
                      </a:r>
                      <a:r>
                        <a:rPr lang="zh-TW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altLang="zh-TW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Set</a:t>
                      </a:r>
                      <a:r>
                        <a:rPr lang="zh-TW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altLang="zh-TW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(~0.2X)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Avg.</a:t>
                      </a:r>
                      <a:r>
                        <a:rPr lang="zh-TW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altLang="zh-TW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Balanced</a:t>
                      </a:r>
                      <a:r>
                        <a:rPr lang="zh-TW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F1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Avg.</a:t>
                      </a:r>
                      <a:r>
                        <a:rPr lang="zh-TW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altLang="zh-TW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Balanced</a:t>
                      </a:r>
                      <a:r>
                        <a:rPr lang="zh-TW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MCC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Avg.</a:t>
                      </a:r>
                      <a:r>
                        <a:rPr lang="zh-TW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altLang="zh-TW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Balanced</a:t>
                      </a:r>
                      <a:r>
                        <a:rPr lang="zh-TW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AUCROC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97597706"/>
                  </a:ext>
                </a:extLst>
              </a:tr>
              <a:tr h="284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TISCalling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 (RF)</a:t>
                      </a:r>
                      <a:endParaRPr 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5UTRATG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318.6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0.861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0.724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0.939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682948"/>
                  </a:ext>
                </a:extLst>
              </a:tr>
              <a:tr h="284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</a:rPr>
                        <a:t>TISCalling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</a:rPr>
                        <a:t> (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GB)</a:t>
                      </a:r>
                      <a:endParaRPr 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200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5UTRnonATG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3534.6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0.890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0.780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0.958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054277"/>
                  </a:ext>
                </a:extLst>
              </a:tr>
              <a:tr h="284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</a:rPr>
                        <a:t>TISCalling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</a:rPr>
                        <a:t> (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RF)</a:t>
                      </a:r>
                      <a:endParaRPr 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200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CDSATG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116.0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0.861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0.718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0.939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637015"/>
                  </a:ext>
                </a:extLst>
              </a:tr>
              <a:tr h="284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</a:rPr>
                        <a:t>TISCalling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</a:rPr>
                        <a:t> (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</a:rPr>
                        <a:t>LGR)</a:t>
                      </a:r>
                      <a:endParaRPr 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200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CDSnonATG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591.0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0.703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0.409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0.797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102485"/>
                  </a:ext>
                </a:extLst>
              </a:tr>
              <a:tr h="3302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RiNALMo-giga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 (</a:t>
                      </a:r>
                      <a:r>
                        <a:rPr kumimoji="0" lang="en-US" altLang="zh-TW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DoRA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) CLS,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fixed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window</a:t>
                      </a:r>
                    </a:p>
                  </a:txBody>
                  <a:tcPr marL="8610" marR="8610" marT="861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200</a:t>
                      </a:r>
                      <a:endParaRPr lang="en-US" altLang="zh-TW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8610" marR="8610" marT="861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5UTRATG</a:t>
                      </a:r>
                    </a:p>
                  </a:txBody>
                  <a:tcPr marL="8610" marR="8610" marT="861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384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0.893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0.779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0.962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18135"/>
                  </a:ext>
                </a:extLst>
              </a:tr>
              <a:tr h="3302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RiNALMo-giga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 (</a:t>
                      </a:r>
                      <a:r>
                        <a:rPr kumimoji="0" lang="en-US" altLang="zh-TW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DoRA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)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CLS,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fixed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window</a:t>
                      </a:r>
                      <a:endParaRPr kumimoji="0" lang="en-US" altLang="zh-TW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8610" marR="8610" marT="861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en-US" altLang="zh-TW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8610" marR="8610" marT="861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5UTRnonATG</a:t>
                      </a:r>
                    </a:p>
                  </a:txBody>
                  <a:tcPr marL="8610" marR="8610" marT="861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4977.4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0.834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0.744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0.983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003216"/>
                  </a:ext>
                </a:extLst>
              </a:tr>
              <a:tr h="3302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RiNALMo-giga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 (</a:t>
                      </a:r>
                      <a:r>
                        <a:rPr kumimoji="0" lang="en-US" altLang="zh-TW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DoRA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) CLS,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fixed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window</a:t>
                      </a:r>
                      <a:endParaRPr kumimoji="0" lang="en-US" altLang="zh-TW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8610" marR="8610" marT="861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en-US" altLang="zh-TW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8610" marR="8610" marT="861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CDSATG</a:t>
                      </a:r>
                    </a:p>
                  </a:txBody>
                  <a:tcPr marL="8610" marR="8610" marT="861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142.2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0.886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0.766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0.963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111597"/>
                  </a:ext>
                </a:extLst>
              </a:tr>
              <a:tr h="3302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RiNALMo-giga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 (</a:t>
                      </a:r>
                      <a:r>
                        <a:rPr kumimoji="0" lang="en-US" altLang="zh-TW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DoRA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)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CLS,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fixed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window</a:t>
                      </a:r>
                      <a:endParaRPr kumimoji="0" lang="en-US" altLang="zh-TW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8610" marR="8610" marT="861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</a:p>
                  </a:txBody>
                  <a:tcPr marL="8610" marR="8610" marT="861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CDSnonATG</a:t>
                      </a:r>
                      <a:endParaRPr lang="en-US" altLang="zh-TW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8610" marR="8610" marT="861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675.8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0.483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0.425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0.883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525373"/>
                  </a:ext>
                </a:extLst>
              </a:tr>
              <a:tr h="3302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RiNALMo-giga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 (</a:t>
                      </a:r>
                      <a:r>
                        <a:rPr kumimoji="0" lang="en-US" altLang="zh-TW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DoRA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)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CLS,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fixed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window</a:t>
                      </a:r>
                      <a:endParaRPr kumimoji="0" lang="en-US" altLang="zh-TW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8610" marR="8610" marT="861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1000</a:t>
                      </a:r>
                    </a:p>
                  </a:txBody>
                  <a:tcPr marL="8610" marR="8610" marT="861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5UTRATG</a:t>
                      </a:r>
                    </a:p>
                  </a:txBody>
                  <a:tcPr marL="8610" marR="8610" marT="861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414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0.948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0.896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0.990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333644"/>
                  </a:ext>
                </a:extLst>
              </a:tr>
              <a:tr h="3302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RiNALMo-giga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 (</a:t>
                      </a:r>
                      <a:r>
                        <a:rPr kumimoji="0" lang="en-US" altLang="zh-TW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DoRA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)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CLS,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fixed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window</a:t>
                      </a:r>
                      <a:endParaRPr kumimoji="0" lang="en-US" altLang="zh-TW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8610" marR="8610" marT="861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1000</a:t>
                      </a:r>
                    </a:p>
                  </a:txBody>
                  <a:tcPr marL="8610" marR="8610" marT="861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5UTRnonATG</a:t>
                      </a:r>
                    </a:p>
                  </a:txBody>
                  <a:tcPr marL="8610" marR="8610" marT="861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5230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0.850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0.764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0.985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414786"/>
                  </a:ext>
                </a:extLst>
              </a:tr>
              <a:tr h="3302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RiNALMo-giga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 (</a:t>
                      </a:r>
                      <a:r>
                        <a:rPr kumimoji="0" lang="en-US" altLang="zh-TW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DoRA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)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CLS,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fixed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window</a:t>
                      </a:r>
                      <a:endParaRPr kumimoji="0" lang="en-US" altLang="zh-TW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8610" marR="8610" marT="861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1000</a:t>
                      </a:r>
                    </a:p>
                  </a:txBody>
                  <a:tcPr marL="8610" marR="8610" marT="861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CDSATG</a:t>
                      </a:r>
                    </a:p>
                  </a:txBody>
                  <a:tcPr marL="8610" marR="8610" marT="861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121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0.951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0.901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0.995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033589"/>
                  </a:ext>
                </a:extLst>
              </a:tr>
              <a:tr h="3302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RiNALMo-giga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 (</a:t>
                      </a:r>
                      <a:r>
                        <a:rPr kumimoji="0" lang="en-US" altLang="zh-TW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DoRA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)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CLS,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fixed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window</a:t>
                      </a:r>
                      <a:endParaRPr kumimoji="0" lang="en-US" altLang="zh-TW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8610" marR="8610" marT="861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1000</a:t>
                      </a:r>
                    </a:p>
                  </a:txBody>
                  <a:tcPr marL="8610" marR="8610" marT="861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CDSnonATG</a:t>
                      </a:r>
                      <a:endParaRPr lang="en-US" altLang="zh-TW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8610" marR="8610" marT="861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396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0.477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0.416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新細明體" panose="02020500000000000000" pitchFamily="18" charset="-120"/>
                          <a:cs typeface="+mn-cs"/>
                        </a:rPr>
                        <a:t>0.894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755515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115E565E-2CC5-3F84-17ED-3C5C5B159AFA}"/>
              </a:ext>
            </a:extLst>
          </p:cNvPr>
          <p:cNvSpPr txBox="1"/>
          <p:nvPr/>
        </p:nvSpPr>
        <p:spPr>
          <a:xfrm>
            <a:off x="6200776" y="1204120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en-US" altLang="zh-TW" dirty="0"/>
              <a:t>transcript-aware train/test split</a:t>
            </a:r>
          </a:p>
          <a:p>
            <a:pPr marL="285750" indent="-285750">
              <a:buFontTx/>
              <a:buChar char="-"/>
            </a:pPr>
            <a:r>
              <a:rPr kumimoji="1" lang="en-US" altLang="zh-TW" dirty="0"/>
              <a:t>5</a:t>
            </a:r>
            <a:r>
              <a:rPr kumimoji="1" lang="zh-TW" altLang="en-US" dirty="0"/>
              <a:t> </a:t>
            </a:r>
            <a:r>
              <a:rPr kumimoji="1" lang="en-US" altLang="zh-TW" dirty="0"/>
              <a:t>fold</a:t>
            </a:r>
            <a:r>
              <a:rPr kumimoji="1" lang="zh-TW" altLang="en-US" dirty="0"/>
              <a:t> </a:t>
            </a:r>
            <a:r>
              <a:rPr kumimoji="1" lang="en-US" altLang="zh-TW" dirty="0"/>
              <a:t>cross</a:t>
            </a:r>
            <a:r>
              <a:rPr kumimoji="1" lang="zh-TW" altLang="en-US" dirty="0"/>
              <a:t> </a:t>
            </a:r>
            <a:r>
              <a:rPr kumimoji="1" lang="en-US" altLang="zh-TW" dirty="0"/>
              <a:t>validate</a:t>
            </a:r>
            <a:r>
              <a:rPr kumimoji="1" lang="zh-TW" altLang="en-US" dirty="0"/>
              <a:t> </a:t>
            </a:r>
            <a:r>
              <a:rPr kumimoji="1" lang="en-US" altLang="zh-TW" dirty="0"/>
              <a:t>on</a:t>
            </a:r>
            <a:r>
              <a:rPr kumimoji="1" lang="zh-TW" altLang="en-US" dirty="0"/>
              <a:t> </a:t>
            </a:r>
            <a:r>
              <a:rPr kumimoji="1" lang="en-US" altLang="zh-TW" dirty="0"/>
              <a:t>test</a:t>
            </a:r>
            <a:r>
              <a:rPr kumimoji="1" lang="zh-TW" altLang="en-US" dirty="0"/>
              <a:t> </a:t>
            </a:r>
            <a:r>
              <a:rPr kumimoji="1" lang="en-US" altLang="zh-TW" dirty="0"/>
              <a:t>set</a:t>
            </a:r>
            <a:endParaRPr kumimoji="1" lang="zh-TW" altLang="en-US" dirty="0"/>
          </a:p>
        </p:txBody>
      </p:sp>
      <p:sp>
        <p:nvSpPr>
          <p:cNvPr id="5" name="右大括弧 4">
            <a:extLst>
              <a:ext uri="{FF2B5EF4-FFF2-40B4-BE49-F238E27FC236}">
                <a16:creationId xmlns:a16="http://schemas.microsoft.com/office/drawing/2014/main" id="{385ED4B3-5B85-D0BB-DA29-B1A5814E6BBE}"/>
              </a:ext>
            </a:extLst>
          </p:cNvPr>
          <p:cNvSpPr/>
          <p:nvPr/>
        </p:nvSpPr>
        <p:spPr>
          <a:xfrm>
            <a:off x="11258551" y="4844369"/>
            <a:ext cx="171450" cy="127249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0EEA53-50BD-E84C-1FAB-8131B9CEDF3A}"/>
              </a:ext>
            </a:extLst>
          </p:cNvPr>
          <p:cNvSpPr txBox="1"/>
          <p:nvPr/>
        </p:nvSpPr>
        <p:spPr>
          <a:xfrm rot="16200000">
            <a:off x="11245960" y="5098941"/>
            <a:ext cx="1100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Not</a:t>
            </a:r>
            <a:r>
              <a:rPr kumimoji="1" lang="zh-TW" altLang="en-US" dirty="0"/>
              <a:t> </a:t>
            </a:r>
            <a:r>
              <a:rPr kumimoji="1" lang="en-US" altLang="zh-TW" dirty="0"/>
              <a:t>cv</a:t>
            </a:r>
            <a:r>
              <a:rPr kumimoji="1" lang="zh-TW" altLang="en-US" dirty="0"/>
              <a:t> </a:t>
            </a:r>
            <a:r>
              <a:rPr kumimoji="1" lang="en-US" altLang="zh-TW" dirty="0"/>
              <a:t>result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1145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A08950-92C1-77B2-B703-A97EE6598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31" y="0"/>
            <a:ext cx="11518900" cy="1325563"/>
          </a:xfrm>
        </p:spPr>
        <p:txBody>
          <a:bodyPr/>
          <a:lstStyle/>
          <a:p>
            <a:r>
              <a:rPr kumimoji="1" lang="en-US" altLang="zh-TW" dirty="0"/>
              <a:t>Performance between different context selection</a:t>
            </a:r>
            <a:endParaRPr kumimoji="1" lang="zh-TW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67B3DF3-26E2-499B-6788-74D5334C0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270833"/>
              </p:ext>
            </p:extLst>
          </p:nvPr>
        </p:nvGraphicFramePr>
        <p:xfrm>
          <a:off x="441233" y="1030605"/>
          <a:ext cx="11161896" cy="452314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5237">
                  <a:extLst>
                    <a:ext uri="{9D8B030D-6E8A-4147-A177-3AD203B41FA5}">
                      <a16:colId xmlns:a16="http://schemas.microsoft.com/office/drawing/2014/main" val="1892668100"/>
                    </a:ext>
                  </a:extLst>
                </a:gridCol>
                <a:gridCol w="1395237">
                  <a:extLst>
                    <a:ext uri="{9D8B030D-6E8A-4147-A177-3AD203B41FA5}">
                      <a16:colId xmlns:a16="http://schemas.microsoft.com/office/drawing/2014/main" val="411755365"/>
                    </a:ext>
                  </a:extLst>
                </a:gridCol>
                <a:gridCol w="1395237">
                  <a:extLst>
                    <a:ext uri="{9D8B030D-6E8A-4147-A177-3AD203B41FA5}">
                      <a16:colId xmlns:a16="http://schemas.microsoft.com/office/drawing/2014/main" val="3525548019"/>
                    </a:ext>
                  </a:extLst>
                </a:gridCol>
                <a:gridCol w="1395237">
                  <a:extLst>
                    <a:ext uri="{9D8B030D-6E8A-4147-A177-3AD203B41FA5}">
                      <a16:colId xmlns:a16="http://schemas.microsoft.com/office/drawing/2014/main" val="1686979133"/>
                    </a:ext>
                  </a:extLst>
                </a:gridCol>
                <a:gridCol w="1395237">
                  <a:extLst>
                    <a:ext uri="{9D8B030D-6E8A-4147-A177-3AD203B41FA5}">
                      <a16:colId xmlns:a16="http://schemas.microsoft.com/office/drawing/2014/main" val="2638286134"/>
                    </a:ext>
                  </a:extLst>
                </a:gridCol>
                <a:gridCol w="1148358">
                  <a:extLst>
                    <a:ext uri="{9D8B030D-6E8A-4147-A177-3AD203B41FA5}">
                      <a16:colId xmlns:a16="http://schemas.microsoft.com/office/drawing/2014/main" val="1169927391"/>
                    </a:ext>
                  </a:extLst>
                </a:gridCol>
                <a:gridCol w="1290918">
                  <a:extLst>
                    <a:ext uri="{9D8B030D-6E8A-4147-A177-3AD203B41FA5}">
                      <a16:colId xmlns:a16="http://schemas.microsoft.com/office/drawing/2014/main" val="216208822"/>
                    </a:ext>
                  </a:extLst>
                </a:gridCol>
                <a:gridCol w="1746435">
                  <a:extLst>
                    <a:ext uri="{9D8B030D-6E8A-4147-A177-3AD203B41FA5}">
                      <a16:colId xmlns:a16="http://schemas.microsoft.com/office/drawing/2014/main" val="4269243992"/>
                    </a:ext>
                  </a:extLst>
                </a:gridCol>
              </a:tblGrid>
              <a:tr h="770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</a:t>
                      </a: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arameter</a:t>
                      </a:r>
                      <a:r>
                        <a:rPr lang="zh-TW" alt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(million)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ontext</a:t>
                      </a:r>
                      <a:r>
                        <a:rPr lang="zh-TW" alt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(hundred</a:t>
                      </a:r>
                      <a:r>
                        <a:rPr lang="zh-TW" alt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zh-TW" sz="18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nt</a:t>
                      </a: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left window</a:t>
                      </a:r>
                      <a:r>
                        <a:rPr lang="zh-TW" alt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(hundred</a:t>
                      </a:r>
                      <a:r>
                        <a:rPr lang="zh-TW" alt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zh-TW" sz="18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nt</a:t>
                      </a: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right window</a:t>
                      </a:r>
                      <a:r>
                        <a:rPr lang="zh-TW" alt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(hundred</a:t>
                      </a:r>
                      <a:r>
                        <a:rPr lang="zh-TW" alt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zh-TW" sz="18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nt</a:t>
                      </a: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(A</a:t>
                      </a: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upr</a:t>
                      </a:r>
                      <a:r>
                        <a:rPr lang="zh-TW" alt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–</a:t>
                      </a:r>
                      <a:r>
                        <a:rPr lang="zh-TW" alt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0.9)</a:t>
                      </a:r>
                      <a:r>
                        <a:rPr lang="zh-TW" alt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* </a:t>
                      </a: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10000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mcc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CV result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Split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method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189548"/>
                  </a:ext>
                </a:extLst>
              </a:tr>
              <a:tr h="262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659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2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1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1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</a:t>
                      </a:r>
                      <a:r>
                        <a:rPr lang="en-US" altLang="zh-TW" sz="1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r>
                        <a:rPr lang="en-US" altLang="zh-TW" sz="1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zh-TW" sz="18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lang="zh-TW" altLang="zh-TW" sz="18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</a:t>
                      </a:r>
                      <a:r>
                        <a:rPr lang="zh-TW" altLang="en-US" sz="1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TW" altLang="zh-TW" sz="18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4400630"/>
                  </a:ext>
                </a:extLst>
              </a:tr>
              <a:tr h="262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34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zh-TW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zh-TW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740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884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Gene</a:t>
                      </a:r>
                      <a:r>
                        <a:rPr kumimoji="0" lang="zh-TW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id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7479860"/>
                  </a:ext>
                </a:extLst>
              </a:tr>
              <a:tr h="262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34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4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2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2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763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900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V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Gene</a:t>
                      </a:r>
                      <a:r>
                        <a:rPr kumimoji="0" lang="zh-TW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id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39200248"/>
                  </a:ext>
                </a:extLst>
              </a:tr>
              <a:tr h="262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34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zh-TW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811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921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Gene</a:t>
                      </a:r>
                      <a:r>
                        <a:rPr kumimoji="0" lang="zh-TW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id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10445826"/>
                  </a:ext>
                </a:extLst>
              </a:tr>
              <a:tr h="262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34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783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900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Gene</a:t>
                      </a: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id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1406908"/>
                  </a:ext>
                </a:extLst>
              </a:tr>
              <a:tr h="262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34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770</a:t>
                      </a:r>
                      <a:endParaRPr lang="zh-TW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912</a:t>
                      </a:r>
                      <a:endParaRPr lang="zh-TW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V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</a:t>
                      </a:r>
                      <a:r>
                        <a:rPr lang="zh-TW" altLang="en-US" sz="1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4677225"/>
                  </a:ext>
                </a:extLst>
              </a:tr>
              <a:tr h="346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34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771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905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V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Seq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sim.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9955590"/>
                  </a:ext>
                </a:extLst>
              </a:tr>
              <a:tr h="262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34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764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906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Gene</a:t>
                      </a: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id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5485552"/>
                  </a:ext>
                </a:extLst>
              </a:tr>
              <a:tr h="262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en-US" alt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818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915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Gene</a:t>
                      </a:r>
                      <a:r>
                        <a:rPr kumimoji="0" lang="zh-TW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id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65898437"/>
                  </a:ext>
                </a:extLst>
              </a:tr>
              <a:tr h="262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34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827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909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Gene</a:t>
                      </a:r>
                      <a:r>
                        <a:rPr kumimoji="0" lang="zh-TW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id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4421231"/>
                  </a:ext>
                </a:extLst>
              </a:tr>
              <a:tr h="262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34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820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910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Gene</a:t>
                      </a:r>
                      <a:r>
                        <a:rPr kumimoji="0" lang="zh-TW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id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5598012"/>
                  </a:ext>
                </a:extLst>
              </a:tr>
              <a:tr h="262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150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zh-TW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837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924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Gene</a:t>
                      </a: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id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52725599"/>
                  </a:ext>
                </a:extLst>
              </a:tr>
              <a:tr h="262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659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zh-TW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877</a:t>
                      </a:r>
                      <a:endParaRPr lang="zh-TW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951</a:t>
                      </a:r>
                      <a:endParaRPr lang="zh-TW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</a:t>
                      </a:r>
                      <a:r>
                        <a:rPr lang="zh-TW" altLang="en-US" sz="1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3666816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E4684173-6D76-ABC4-5A73-79079FC23E1E}"/>
              </a:ext>
            </a:extLst>
          </p:cNvPr>
          <p:cNvSpPr txBox="1"/>
          <p:nvPr/>
        </p:nvSpPr>
        <p:spPr>
          <a:xfrm>
            <a:off x="497029" y="5616164"/>
            <a:ext cx="122119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Recommend</a:t>
            </a:r>
            <a:r>
              <a:rPr kumimoji="1" lang="zh-TW" altLang="en-US" dirty="0"/>
              <a:t> </a:t>
            </a:r>
            <a:r>
              <a:rPr kumimoji="1" lang="en-US" altLang="zh-TW" dirty="0"/>
              <a:t>using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AUPR</a:t>
            </a:r>
            <a:r>
              <a:rPr kumimoji="1" lang="zh-TW" altLang="en-US" dirty="0"/>
              <a:t> </a:t>
            </a:r>
            <a:r>
              <a:rPr kumimoji="1" lang="en-US" altLang="zh-TW" dirty="0"/>
              <a:t>as</a:t>
            </a:r>
            <a:r>
              <a:rPr kumimoji="1" lang="zh-TW" altLang="en-US" dirty="0"/>
              <a:t> </a:t>
            </a:r>
            <a:r>
              <a:rPr kumimoji="1" lang="en-US" altLang="zh-TW" dirty="0"/>
              <a:t>comparing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score</a:t>
            </a:r>
            <a:r>
              <a:rPr kumimoji="1" lang="zh-TW" altLang="en-US" dirty="0"/>
              <a:t> </a:t>
            </a:r>
            <a:r>
              <a:rPr kumimoji="1" lang="en-US" altLang="zh-TW" dirty="0"/>
              <a:t>(more</a:t>
            </a:r>
            <a:r>
              <a:rPr kumimoji="1" lang="zh-TW" altLang="en-US" dirty="0"/>
              <a:t> </a:t>
            </a:r>
            <a:r>
              <a:rPr kumimoji="1" lang="en-US" altLang="zh-TW" dirty="0"/>
              <a:t>stable)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Gradually</a:t>
            </a:r>
            <a:r>
              <a:rPr kumimoji="1" lang="zh-TW" altLang="en-US" dirty="0"/>
              <a:t> </a:t>
            </a:r>
            <a:r>
              <a:rPr kumimoji="1" lang="en-US" altLang="zh-TW" dirty="0"/>
              <a:t>performance</a:t>
            </a:r>
            <a:r>
              <a:rPr kumimoji="1" lang="zh-TW" altLang="en-US" dirty="0"/>
              <a:t> </a:t>
            </a:r>
            <a:r>
              <a:rPr kumimoji="1" lang="en-US" altLang="zh-TW" dirty="0"/>
              <a:t>decreasing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when</a:t>
            </a:r>
            <a:r>
              <a:rPr kumimoji="1" lang="zh-TW" altLang="en-US" dirty="0"/>
              <a:t> </a:t>
            </a:r>
            <a:r>
              <a:rPr kumimoji="1" lang="en-US" altLang="zh-TW" dirty="0"/>
              <a:t>move</a:t>
            </a:r>
            <a:r>
              <a:rPr kumimoji="1" lang="zh-TW" altLang="en-US" dirty="0"/>
              <a:t> </a:t>
            </a:r>
            <a:r>
              <a:rPr kumimoji="1" lang="en-US" altLang="zh-TW" dirty="0"/>
              <a:t>500nt</a:t>
            </a:r>
            <a:r>
              <a:rPr kumimoji="1" lang="zh-TW" altLang="en-US" dirty="0"/>
              <a:t> </a:t>
            </a:r>
            <a:r>
              <a:rPr kumimoji="1" lang="en-US" altLang="zh-TW" dirty="0"/>
              <a:t>window</a:t>
            </a:r>
            <a:r>
              <a:rPr kumimoji="1" lang="zh-TW" altLang="en-US" dirty="0"/>
              <a:t> </a:t>
            </a:r>
            <a:r>
              <a:rPr kumimoji="1" lang="en-US" altLang="zh-TW" dirty="0"/>
              <a:t>around</a:t>
            </a:r>
            <a:r>
              <a:rPr kumimoji="1" lang="zh-TW" altLang="en-US" dirty="0"/>
              <a:t> </a:t>
            </a:r>
            <a:r>
              <a:rPr kumimoji="1" lang="en-US" altLang="zh-TW" dirty="0"/>
              <a:t>TIS</a:t>
            </a:r>
            <a:r>
              <a:rPr kumimoji="1" lang="zh-TW" altLang="en-US" dirty="0"/>
              <a:t> </a:t>
            </a:r>
            <a:r>
              <a:rPr kumimoji="1" lang="en-US" altLang="zh-TW" dirty="0"/>
              <a:t>from</a:t>
            </a:r>
            <a:r>
              <a:rPr kumimoji="1" lang="zh-TW" altLang="en-US" dirty="0"/>
              <a:t> </a:t>
            </a:r>
            <a:r>
              <a:rPr kumimoji="1" lang="en-US" altLang="zh-TW" dirty="0"/>
              <a:t>right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left</a:t>
            </a:r>
            <a:r>
              <a:rPr kumimoji="1" lang="zh-TW" altLang="en-US" dirty="0"/>
              <a:t> </a:t>
            </a:r>
            <a:r>
              <a:rPr kumimoji="1" lang="en-US" altLang="zh-TW" dirty="0"/>
              <a:t>(but</a:t>
            </a:r>
            <a:r>
              <a:rPr kumimoji="1" lang="zh-TW" altLang="en-US" dirty="0"/>
              <a:t> </a:t>
            </a:r>
            <a:r>
              <a:rPr kumimoji="1" lang="en-US" altLang="zh-TW" dirty="0"/>
              <a:t>cv</a:t>
            </a:r>
            <a:r>
              <a:rPr kumimoji="1" lang="zh-TW" altLang="en-US" dirty="0"/>
              <a:t> </a:t>
            </a:r>
            <a:r>
              <a:rPr kumimoji="1" lang="en-US" altLang="zh-TW" dirty="0"/>
              <a:t>is</a:t>
            </a:r>
            <a:r>
              <a:rPr kumimoji="1" lang="zh-TW" altLang="en-US" dirty="0"/>
              <a:t> </a:t>
            </a:r>
            <a:r>
              <a:rPr kumimoji="1" lang="en-US" altLang="zh-TW" dirty="0"/>
              <a:t>required)</a:t>
            </a:r>
            <a:r>
              <a:rPr kumimoji="1" lang="zh-TW" altLang="en-US" dirty="0"/>
              <a:t> </a:t>
            </a:r>
            <a:endParaRPr kumimoji="1" lang="en-US" altLang="zh-TW" dirty="0"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Larger</a:t>
            </a:r>
            <a:r>
              <a:rPr kumimoji="1" lang="zh-TW" altLang="en-US" dirty="0"/>
              <a:t> </a:t>
            </a:r>
            <a:r>
              <a:rPr kumimoji="1" lang="en-US" altLang="zh-TW" dirty="0"/>
              <a:t>model</a:t>
            </a:r>
            <a:r>
              <a:rPr kumimoji="1" lang="zh-TW" altLang="en-US" dirty="0"/>
              <a:t> </a:t>
            </a:r>
            <a:r>
              <a:rPr kumimoji="1" lang="en-US" altLang="zh-TW" dirty="0"/>
              <a:t>and</a:t>
            </a:r>
            <a:r>
              <a:rPr kumimoji="1" lang="zh-TW" altLang="en-US" dirty="0"/>
              <a:t> </a:t>
            </a:r>
            <a:r>
              <a:rPr kumimoji="1" lang="en-US" altLang="zh-TW" dirty="0"/>
              <a:t>larger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context</a:t>
            </a:r>
            <a:r>
              <a:rPr kumimoji="1" lang="zh-TW" altLang="en-US" dirty="0"/>
              <a:t> </a:t>
            </a:r>
            <a:r>
              <a:rPr kumimoji="1" lang="en-US" altLang="zh-TW" dirty="0"/>
              <a:t>show performance</a:t>
            </a:r>
            <a:r>
              <a:rPr kumimoji="1" lang="zh-TW" altLang="en-US" dirty="0"/>
              <a:t> </a:t>
            </a:r>
            <a:r>
              <a:rPr kumimoji="1" lang="en-US" altLang="zh-TW" dirty="0"/>
              <a:t>improving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Performance show no significant</a:t>
            </a:r>
            <a:r>
              <a:rPr kumimoji="1" lang="zh-TW" altLang="en-US" dirty="0"/>
              <a:t> </a:t>
            </a:r>
            <a:r>
              <a:rPr kumimoji="1" lang="en-US" altLang="zh-TW" dirty="0"/>
              <a:t>difference between cluster by </a:t>
            </a:r>
            <a:r>
              <a:rPr kumimoji="1" lang="en-US" altLang="zh-TW" dirty="0" err="1"/>
              <a:t>gene_id</a:t>
            </a:r>
            <a:r>
              <a:rPr kumimoji="1" lang="en-US" altLang="zh-TW" dirty="0"/>
              <a:t> or by sequence similarity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3071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B9F43C-86D1-5109-3AD9-13BF47F7E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Group</a:t>
            </a:r>
            <a:r>
              <a:rPr kumimoji="1" lang="zh-TW" altLang="en-US" dirty="0"/>
              <a:t> </a:t>
            </a:r>
            <a:r>
              <a:rPr kumimoji="1" lang="en-US" altLang="zh-TW" dirty="0"/>
              <a:t>Split</a:t>
            </a:r>
            <a:r>
              <a:rPr kumimoji="1" lang="zh-TW" altLang="en-US" dirty="0"/>
              <a:t> </a:t>
            </a:r>
            <a:r>
              <a:rPr kumimoji="1" lang="en-US" altLang="zh-TW" dirty="0"/>
              <a:t>by</a:t>
            </a:r>
            <a:r>
              <a:rPr kumimoji="1" lang="zh-TW" altLang="en-US" dirty="0"/>
              <a:t> </a:t>
            </a:r>
            <a:r>
              <a:rPr kumimoji="1" lang="en-US" altLang="zh-TW" dirty="0"/>
              <a:t>Transcript</a:t>
            </a:r>
            <a:r>
              <a:rPr kumimoji="1" lang="zh-TW" altLang="en-US" dirty="0"/>
              <a:t> </a:t>
            </a:r>
            <a:r>
              <a:rPr kumimoji="1" lang="en-US" altLang="zh-TW" dirty="0"/>
              <a:t>or</a:t>
            </a:r>
            <a:r>
              <a:rPr kumimoji="1" lang="zh-TW" altLang="en-US" dirty="0"/>
              <a:t> </a:t>
            </a:r>
            <a:r>
              <a:rPr kumimoji="1" lang="en-US" altLang="zh-TW" dirty="0"/>
              <a:t>by</a:t>
            </a:r>
            <a:r>
              <a:rPr kumimoji="1" lang="zh-TW" altLang="en-US" dirty="0"/>
              <a:t> </a:t>
            </a:r>
            <a:r>
              <a:rPr kumimoji="1" lang="en-US" altLang="zh-TW" dirty="0"/>
              <a:t>Sequence-Similarity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2C5F9A-920F-AC99-2D21-43978B8D5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Steps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zh-TW" dirty="0"/>
              <a:t>Export</a:t>
            </a:r>
            <a:r>
              <a:rPr kumimoji="1" lang="zh-TW" altLang="en-US" dirty="0"/>
              <a:t> </a:t>
            </a:r>
            <a:r>
              <a:rPr kumimoji="1" lang="en-US" altLang="zh-TW" dirty="0"/>
              <a:t>sequence</a:t>
            </a:r>
            <a:r>
              <a:rPr kumimoji="1" lang="zh-TW" altLang="en-US" dirty="0"/>
              <a:t> </a:t>
            </a:r>
            <a:r>
              <a:rPr kumimoji="1" lang="en-US" altLang="zh-TW" dirty="0"/>
              <a:t>as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Fasta</a:t>
            </a:r>
            <a:endParaRPr kumimoji="1" lang="en-US" altLang="zh-TW" dirty="0"/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zh-TW" dirty="0"/>
              <a:t>Run</a:t>
            </a:r>
            <a:r>
              <a:rPr kumimoji="1" lang="zh-TW" altLang="en-US" dirty="0"/>
              <a:t> </a:t>
            </a:r>
            <a:r>
              <a:rPr kumimoji="1" lang="en-US" altLang="zh-TW" i="1" dirty="0"/>
              <a:t>MMseqs2</a:t>
            </a:r>
            <a:r>
              <a:rPr kumimoji="1" lang="zh-TW" altLang="en-US" dirty="0"/>
              <a:t> </a:t>
            </a:r>
            <a:r>
              <a:rPr kumimoji="1" lang="en-US" altLang="zh-TW" dirty="0"/>
              <a:t>with</a:t>
            </a:r>
            <a:r>
              <a:rPr kumimoji="1" lang="zh-TW" altLang="en-US" dirty="0"/>
              <a:t> </a:t>
            </a:r>
            <a:r>
              <a:rPr kumimoji="1" lang="en-US" altLang="zh-TW" dirty="0"/>
              <a:t>command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lang="zh-TW" altLang="zh-TW" dirty="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easy-cluster mmseqs_work/input.fasta mmseqs_work/clusterRes mmseqs_work/tmp --min-seq-id 0.5 -c 0.8 --cov-mode 1</a:t>
            </a:r>
            <a:r>
              <a:rPr kumimoji="1" lang="en-US" altLang="zh-TW" dirty="0"/>
              <a:t>)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cluster</a:t>
            </a:r>
            <a:r>
              <a:rPr kumimoji="1" lang="zh-TW" altLang="en-US" dirty="0"/>
              <a:t> </a:t>
            </a:r>
            <a:r>
              <a:rPr kumimoji="1" lang="en-US" altLang="zh-TW" dirty="0"/>
              <a:t>similar</a:t>
            </a:r>
            <a:r>
              <a:rPr kumimoji="1" lang="zh-TW" altLang="en-US" dirty="0"/>
              <a:t> </a:t>
            </a:r>
            <a:r>
              <a:rPr kumimoji="1" lang="en-US" altLang="zh-TW" dirty="0"/>
              <a:t>sequence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zh-TW" dirty="0"/>
              <a:t>Read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cluster_id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each</a:t>
            </a:r>
            <a:r>
              <a:rPr kumimoji="1" lang="zh-TW" altLang="en-US" dirty="0"/>
              <a:t> </a:t>
            </a:r>
            <a:r>
              <a:rPr kumimoji="1" lang="en-US" altLang="zh-TW" dirty="0"/>
              <a:t>sequence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Split training / dev / test group by using </a:t>
            </a:r>
            <a:r>
              <a:rPr lang="zh-TW" altLang="en-US" dirty="0"/>
              <a:t>sklearn.model_selection</a:t>
            </a:r>
            <a:r>
              <a:rPr lang="en-US" altLang="zh-TW" dirty="0"/>
              <a:t>.</a:t>
            </a:r>
            <a:r>
              <a:rPr lang="zh-TW" altLang="en-US" dirty="0"/>
              <a:t>StratifiedGroupKFold</a:t>
            </a:r>
          </a:p>
          <a:p>
            <a:pPr marL="914400" lvl="1" indent="-457200">
              <a:buFont typeface="+mj-lt"/>
              <a:buAutoNum type="arabicPeriod"/>
            </a:pPr>
            <a:endParaRPr kumimoji="1" lang="en-US" altLang="zh-TW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12FA3B9-F414-130B-DC88-74CA3CB6A6F0}"/>
              </a:ext>
            </a:extLst>
          </p:cNvPr>
          <p:cNvSpPr txBox="1"/>
          <p:nvPr/>
        </p:nvSpPr>
        <p:spPr>
          <a:xfrm>
            <a:off x="2782888" y="5184357"/>
            <a:ext cx="82867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sgkf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StratifiedGroupKFold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n_splits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n_splits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, shuffle=True, 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random_state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=seed)</a:t>
            </a:r>
          </a:p>
          <a:p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fold_idx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, (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train_rel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val_rel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) in enumerate(</a:t>
            </a:r>
          </a:p>
          <a:p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sgkf.split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(indices, labels, groups=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group_ids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)):</a:t>
            </a:r>
          </a:p>
          <a:p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    …</a:t>
            </a:r>
            <a:endParaRPr lang="zh-TW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607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86405A-2F93-EB9B-AB37-A0525E68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What</a:t>
            </a:r>
            <a:r>
              <a:rPr kumimoji="1" lang="zh-TW" altLang="en-US" dirty="0"/>
              <a:t> </a:t>
            </a:r>
            <a:r>
              <a:rPr kumimoji="1" lang="en-US" altLang="zh-TW" dirty="0"/>
              <a:t>larger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context</a:t>
            </a:r>
            <a:r>
              <a:rPr kumimoji="1" lang="zh-TW" altLang="en-US" dirty="0"/>
              <a:t> </a:t>
            </a:r>
            <a:r>
              <a:rPr kumimoji="1" lang="en-US" altLang="zh-TW" dirty="0"/>
              <a:t>model</a:t>
            </a:r>
            <a:r>
              <a:rPr kumimoji="1" lang="zh-TW" altLang="en-US" dirty="0"/>
              <a:t> </a:t>
            </a:r>
            <a:r>
              <a:rPr kumimoji="1" lang="en-US" altLang="zh-TW" dirty="0"/>
              <a:t>focus on</a:t>
            </a:r>
            <a:r>
              <a:rPr kumimoji="1" lang="zh-TW" altLang="en-US" dirty="0"/>
              <a:t> </a:t>
            </a:r>
            <a:r>
              <a:rPr kumimoji="1" lang="en-US" altLang="zh-TW" dirty="0"/>
              <a:t>when</a:t>
            </a:r>
            <a:r>
              <a:rPr kumimoji="1" lang="zh-TW" altLang="en-US" dirty="0"/>
              <a:t> </a:t>
            </a:r>
            <a:r>
              <a:rPr kumimoji="1" lang="en-US" altLang="zh-TW" dirty="0"/>
              <a:t>comparing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smaller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context</a:t>
            </a:r>
            <a:r>
              <a:rPr kumimoji="1" lang="zh-TW" altLang="en-US" dirty="0"/>
              <a:t> </a:t>
            </a:r>
            <a:r>
              <a:rPr kumimoji="1" lang="en-US" altLang="zh-TW" dirty="0"/>
              <a:t>model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5D474E-D7D6-EF15-64E2-78722D96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kumimoji="1" lang="en-US" altLang="zh-TW" dirty="0"/>
              <a:t>Using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Integrated</a:t>
            </a:r>
            <a:r>
              <a:rPr kumimoji="1" lang="zh-TW" altLang="en-US" dirty="0"/>
              <a:t> </a:t>
            </a:r>
            <a:r>
              <a:rPr kumimoji="1" lang="en-US" altLang="zh-TW" dirty="0"/>
              <a:t>Gradient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evaluate</a:t>
            </a:r>
            <a:r>
              <a:rPr kumimoji="1" lang="zh-TW" altLang="en-US" dirty="0"/>
              <a:t> </a:t>
            </a:r>
            <a:r>
              <a:rPr kumimoji="1" lang="en-US" altLang="zh-TW" dirty="0"/>
              <a:t>each</a:t>
            </a:r>
            <a:r>
              <a:rPr kumimoji="1" lang="zh-TW" altLang="en-US" dirty="0"/>
              <a:t> </a:t>
            </a:r>
            <a:r>
              <a:rPr kumimoji="1" lang="en-US" altLang="zh-TW" dirty="0"/>
              <a:t>token’s</a:t>
            </a:r>
            <a:r>
              <a:rPr kumimoji="1" lang="zh-TW" altLang="en-US" dirty="0"/>
              <a:t> </a:t>
            </a:r>
            <a:r>
              <a:rPr kumimoji="1" lang="en-US" altLang="zh-TW" dirty="0"/>
              <a:t>input</a:t>
            </a:r>
          </a:p>
          <a:p>
            <a:r>
              <a:rPr kumimoji="1" lang="en-US" altLang="zh-TW" dirty="0"/>
              <a:t>Experiments</a:t>
            </a:r>
          </a:p>
          <a:p>
            <a:pPr lvl="1"/>
            <a:r>
              <a:rPr lang="zh-TW" altLang="zh-TW" dirty="0"/>
              <a:t>Saliency</a:t>
            </a:r>
            <a:r>
              <a:rPr lang="zh-TW" altLang="en-US" dirty="0"/>
              <a:t> </a:t>
            </a:r>
            <a:r>
              <a:rPr lang="en-US" altLang="zh-TW" dirty="0"/>
              <a:t>map</a:t>
            </a:r>
            <a:r>
              <a:rPr lang="zh-TW" altLang="en-US" dirty="0"/>
              <a:t> </a:t>
            </a:r>
            <a:r>
              <a:rPr lang="en-US" altLang="zh-TW" dirty="0"/>
              <a:t>on</a:t>
            </a:r>
            <a:r>
              <a:rPr lang="zh-TW" altLang="en-US" dirty="0"/>
              <a:t> </a:t>
            </a:r>
            <a:r>
              <a:rPr lang="en-US" altLang="zh-TW" dirty="0"/>
              <a:t>whole</a:t>
            </a:r>
            <a:r>
              <a:rPr lang="zh-TW" altLang="en-US" dirty="0"/>
              <a:t> </a:t>
            </a:r>
            <a:r>
              <a:rPr lang="en-US" altLang="zh-TW" dirty="0"/>
              <a:t>sequence</a:t>
            </a:r>
          </a:p>
          <a:p>
            <a:pPr lvl="1"/>
            <a:r>
              <a:rPr kumimoji="1" lang="en-US" altLang="zh-TW" dirty="0"/>
              <a:t>Saliency</a:t>
            </a:r>
            <a:r>
              <a:rPr kumimoji="1" lang="zh-TW" altLang="en-US" dirty="0"/>
              <a:t> </a:t>
            </a:r>
            <a:r>
              <a:rPr kumimoji="1" lang="en-US" altLang="zh-TW" dirty="0"/>
              <a:t>map</a:t>
            </a:r>
            <a:r>
              <a:rPr kumimoji="1" lang="zh-TW" altLang="en-US" dirty="0"/>
              <a:t> </a:t>
            </a:r>
            <a:r>
              <a:rPr kumimoji="1" lang="en-US" altLang="zh-TW" dirty="0"/>
              <a:t>on</a:t>
            </a:r>
            <a:r>
              <a:rPr kumimoji="1" lang="zh-TW" altLang="en-US" dirty="0"/>
              <a:t> </a:t>
            </a:r>
            <a:r>
              <a:rPr kumimoji="1" lang="en-US" altLang="zh-TW" dirty="0"/>
              <a:t>extra</a:t>
            </a:r>
            <a:r>
              <a:rPr kumimoji="1" lang="zh-TW" altLang="en-US" dirty="0"/>
              <a:t> </a:t>
            </a:r>
            <a:r>
              <a:rPr kumimoji="1" lang="en-US" altLang="zh-TW" dirty="0"/>
              <a:t>region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out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TIS</a:t>
            </a:r>
            <a:r>
              <a:rPr kumimoji="1" lang="zh-TW" altLang="en-US" dirty="0"/>
              <a:t> </a:t>
            </a:r>
            <a:r>
              <a:rPr kumimoji="1" lang="en-US" altLang="zh-TW" dirty="0"/>
              <a:t>flanking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region</a:t>
            </a:r>
          </a:p>
          <a:p>
            <a:r>
              <a:rPr kumimoji="1" lang="en-US" altLang="zh-TW" dirty="0"/>
              <a:t>Study</a:t>
            </a:r>
            <a:r>
              <a:rPr kumimoji="1" lang="zh-TW" altLang="en-US" dirty="0"/>
              <a:t> </a:t>
            </a:r>
            <a:r>
              <a:rPr kumimoji="1" lang="en-US" altLang="zh-TW" dirty="0"/>
              <a:t>the</a:t>
            </a:r>
            <a:r>
              <a:rPr kumimoji="1" lang="zh-TW" altLang="en-US" dirty="0"/>
              <a:t> </a:t>
            </a:r>
            <a:r>
              <a:rPr kumimoji="1" lang="en-US" altLang="zh-TW" dirty="0"/>
              <a:t>sequence</a:t>
            </a:r>
            <a:r>
              <a:rPr kumimoji="1" lang="zh-TW" altLang="en-US" dirty="0"/>
              <a:t> </a:t>
            </a:r>
            <a:r>
              <a:rPr kumimoji="1" lang="en-US" altLang="zh-TW" dirty="0"/>
              <a:t>pattern</a:t>
            </a:r>
            <a:r>
              <a:rPr kumimoji="1" lang="zh-TW" altLang="en-US" dirty="0"/>
              <a:t> </a:t>
            </a:r>
            <a:r>
              <a:rPr kumimoji="1" lang="en-US" altLang="zh-TW" dirty="0"/>
              <a:t>with</a:t>
            </a:r>
            <a:r>
              <a:rPr kumimoji="1" lang="zh-TW" altLang="en-US" dirty="0"/>
              <a:t> </a:t>
            </a:r>
            <a:r>
              <a:rPr kumimoji="1" lang="en-US" altLang="zh-TW" dirty="0"/>
              <a:t>high</a:t>
            </a:r>
            <a:r>
              <a:rPr kumimoji="1" lang="zh-TW" altLang="en-US" dirty="0"/>
              <a:t> </a:t>
            </a:r>
            <a:r>
              <a:rPr kumimoji="1" lang="en-US" altLang="zh-TW" dirty="0"/>
              <a:t>attribution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score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36622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2FFD07-3693-D8E4-E197-563E12EA7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Integrated</a:t>
            </a:r>
            <a:r>
              <a:rPr kumimoji="1" lang="zh-TW" altLang="en-US" dirty="0"/>
              <a:t> </a:t>
            </a:r>
            <a:r>
              <a:rPr kumimoji="1" lang="en-US" altLang="zh-TW" dirty="0"/>
              <a:t>Gradient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838BA8-C42D-C028-2DA2-306EA6519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kumimoji="1" lang="en-US" altLang="zh-TW" dirty="0"/>
              <a:t>Have to iterate with sufficient steps for convergency (relative</a:t>
            </a:r>
            <a:r>
              <a:rPr kumimoji="1" lang="zh-TW" altLang="en-US" dirty="0"/>
              <a:t> </a:t>
            </a:r>
            <a:r>
              <a:rPr kumimoji="1" lang="en-US" altLang="zh-TW" dirty="0"/>
              <a:t>delta &lt; 0.05</a:t>
            </a:r>
            <a:r>
              <a:rPr kumimoji="1" lang="zh-TW" altLang="en-US" dirty="0"/>
              <a:t> </a:t>
            </a:r>
            <a:r>
              <a:rPr kumimoji="1" lang="en-US" altLang="zh-TW" dirty="0"/>
              <a:t>is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considered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accetable</a:t>
            </a:r>
            <a:r>
              <a:rPr kumimoji="1" lang="en-US" altLang="zh-TW" dirty="0"/>
              <a:t>)</a:t>
            </a:r>
          </a:p>
          <a:p>
            <a:r>
              <a:rPr kumimoji="1" lang="en-US" altLang="zh-TW" dirty="0"/>
              <a:t>Choose baseline</a:t>
            </a:r>
          </a:p>
          <a:p>
            <a:pPr lvl="1"/>
            <a:r>
              <a:rPr kumimoji="1" lang="en-US" altLang="zh-TW" dirty="0"/>
              <a:t>Replace token as “[MASK]” Token</a:t>
            </a:r>
          </a:p>
          <a:p>
            <a:pPr lvl="1"/>
            <a:r>
              <a:rPr kumimoji="1" lang="en-US" altLang="zh-TW" dirty="0"/>
              <a:t>Replace token as “[PAD]” Token  </a:t>
            </a:r>
            <a:r>
              <a:rPr kumimoji="1" lang="en-US" altLang="zh-TW" dirty="0">
                <a:sym typeface="Wingdings" pitchFamily="2" charset="2"/>
              </a:rPr>
              <a:t> not suitable (padding token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may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not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trained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during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en-US" altLang="zh-TW" dirty="0">
                <a:sym typeface="Wingdings" pitchFamily="2" charset="2"/>
              </a:rPr>
              <a:t>pre-training)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Average of “</a:t>
            </a:r>
            <a:r>
              <a:rPr kumimoji="1" lang="en-US" altLang="zh-TW" dirty="0" err="1"/>
              <a:t>xxxxATGxxxx</a:t>
            </a:r>
            <a:r>
              <a:rPr kumimoji="1" lang="en-US" altLang="zh-TW" dirty="0"/>
              <a:t>” sequence (according to the dataset distribution)</a:t>
            </a:r>
          </a:p>
          <a:p>
            <a:pPr lvl="1"/>
            <a:r>
              <a:rPr kumimoji="1" lang="en-US" altLang="zh-TW" dirty="0"/>
              <a:t>1k vs 201: ---[M]----[----201----]----[M]-----</a:t>
            </a:r>
          </a:p>
          <a:p>
            <a:pPr lvl="1"/>
            <a:endParaRPr kumimoji="1"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479A1EA-0128-D34C-2C34-11B470679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375" y="5536672"/>
            <a:ext cx="5695625" cy="132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946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E20E9C-0580-0EE3-3C88-5FECCE8F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7" y="1"/>
            <a:ext cx="10434638" cy="1027906"/>
          </a:xfrm>
        </p:spPr>
        <p:txBody>
          <a:bodyPr/>
          <a:lstStyle/>
          <a:p>
            <a:r>
              <a:rPr kumimoji="1" lang="en-US" altLang="zh-TW" dirty="0"/>
              <a:t>Hard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Converge</a:t>
            </a:r>
            <a:r>
              <a:rPr kumimoji="1" lang="zh-TW" altLang="en-US" dirty="0"/>
              <a:t> </a:t>
            </a:r>
            <a:r>
              <a:rPr kumimoji="1" lang="en-US" altLang="zh-TW" dirty="0"/>
              <a:t>by</a:t>
            </a:r>
            <a:r>
              <a:rPr kumimoji="1" lang="zh-TW" altLang="en-US" dirty="0"/>
              <a:t> </a:t>
            </a:r>
            <a:r>
              <a:rPr kumimoji="1" lang="en-US" altLang="zh-TW" dirty="0"/>
              <a:t>Mask</a:t>
            </a:r>
            <a:r>
              <a:rPr kumimoji="1" lang="zh-TW" altLang="en-US" dirty="0"/>
              <a:t> </a:t>
            </a:r>
            <a:r>
              <a:rPr kumimoji="1" lang="en-US" altLang="zh-TW" dirty="0"/>
              <a:t>Token</a:t>
            </a:r>
            <a:endParaRPr kumimoji="1" lang="zh-TW" altLang="en-US" dirty="0"/>
          </a:p>
        </p:txBody>
      </p:sp>
      <p:graphicFrame>
        <p:nvGraphicFramePr>
          <p:cNvPr id="13" name="內容版面配置區 12">
            <a:extLst>
              <a:ext uri="{FF2B5EF4-FFF2-40B4-BE49-F238E27FC236}">
                <a16:creationId xmlns:a16="http://schemas.microsoft.com/office/drawing/2014/main" id="{3C4C8F34-80DD-596B-BF43-33B58CBEAA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467538"/>
              </p:ext>
            </p:extLst>
          </p:nvPr>
        </p:nvGraphicFramePr>
        <p:xfrm>
          <a:off x="280987" y="1027906"/>
          <a:ext cx="11763376" cy="5619462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623624">
                  <a:extLst>
                    <a:ext uri="{9D8B030D-6E8A-4147-A177-3AD203B41FA5}">
                      <a16:colId xmlns:a16="http://schemas.microsoft.com/office/drawing/2014/main" val="1508128124"/>
                    </a:ext>
                  </a:extLst>
                </a:gridCol>
                <a:gridCol w="2154809">
                  <a:extLst>
                    <a:ext uri="{9D8B030D-6E8A-4147-A177-3AD203B41FA5}">
                      <a16:colId xmlns:a16="http://schemas.microsoft.com/office/drawing/2014/main" val="1714484678"/>
                    </a:ext>
                  </a:extLst>
                </a:gridCol>
                <a:gridCol w="1291378">
                  <a:extLst>
                    <a:ext uri="{9D8B030D-6E8A-4147-A177-3AD203B41FA5}">
                      <a16:colId xmlns:a16="http://schemas.microsoft.com/office/drawing/2014/main" val="4096785815"/>
                    </a:ext>
                  </a:extLst>
                </a:gridCol>
                <a:gridCol w="2314133">
                  <a:extLst>
                    <a:ext uri="{9D8B030D-6E8A-4147-A177-3AD203B41FA5}">
                      <a16:colId xmlns:a16="http://schemas.microsoft.com/office/drawing/2014/main" val="4284601414"/>
                    </a:ext>
                  </a:extLst>
                </a:gridCol>
                <a:gridCol w="2189716">
                  <a:extLst>
                    <a:ext uri="{9D8B030D-6E8A-4147-A177-3AD203B41FA5}">
                      <a16:colId xmlns:a16="http://schemas.microsoft.com/office/drawing/2014/main" val="552510987"/>
                    </a:ext>
                  </a:extLst>
                </a:gridCol>
                <a:gridCol w="2189716">
                  <a:extLst>
                    <a:ext uri="{9D8B030D-6E8A-4147-A177-3AD203B41FA5}">
                      <a16:colId xmlns:a16="http://schemas.microsoft.com/office/drawing/2014/main" val="1458861142"/>
                    </a:ext>
                  </a:extLst>
                </a:gridCol>
              </a:tblGrid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b="1" u="none" strike="noStrike" dirty="0">
                          <a:effectLst/>
                        </a:rPr>
                        <a:t>model</a:t>
                      </a:r>
                      <a:endParaRPr 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b="1" u="none" strike="noStrike" dirty="0">
                          <a:effectLst/>
                        </a:rPr>
                        <a:t>baseline</a:t>
                      </a:r>
                      <a:endParaRPr 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b="1" u="none" strike="noStrike" dirty="0">
                          <a:effectLst/>
                        </a:rPr>
                        <a:t>steps</a:t>
                      </a:r>
                      <a:endParaRPr 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b="1" u="none" strike="noStrike" dirty="0">
                          <a:effectLst/>
                        </a:rPr>
                        <a:t>delta</a:t>
                      </a:r>
                      <a:endParaRPr 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b="1" u="none" strike="noStrike">
                          <a:effectLst/>
                        </a:rPr>
                        <a:t>relative delta</a:t>
                      </a:r>
                      <a:endParaRPr lang="zh-TW" sz="12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b="1" u="none" strike="noStrike" dirty="0">
                          <a:effectLst/>
                        </a:rPr>
                        <a:t>difference</a:t>
                      </a:r>
                      <a:endParaRPr 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321113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giga-1k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mask token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64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-14.1960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b="1" u="none" strike="noStrike" dirty="0">
                          <a:effectLst/>
                        </a:rPr>
                        <a:t>1.5614</a:t>
                      </a:r>
                      <a:endParaRPr 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9.0916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429835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giga-1k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mask token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128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3.3869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b="1" u="none" strike="noStrike" dirty="0">
                          <a:effectLst/>
                        </a:rPr>
                        <a:t>0.3725</a:t>
                      </a:r>
                      <a:endParaRPr 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9.0916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873897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giga-1k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mask token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256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-1.0490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b="1" u="none" strike="noStrike" dirty="0">
                          <a:effectLst/>
                        </a:rPr>
                        <a:t>0.1154</a:t>
                      </a:r>
                      <a:endParaRPr 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9.0916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888257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giga-1k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mask token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512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0.5066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b="1" u="none" strike="noStrike" dirty="0">
                          <a:effectLst/>
                        </a:rPr>
                        <a:t>0.0557</a:t>
                      </a:r>
                      <a:endParaRPr 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9.0916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490315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giga-1k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mask token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1024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-0.8124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b="1" u="none" strike="noStrike" dirty="0">
                          <a:effectLst/>
                        </a:rPr>
                        <a:t>0.0894</a:t>
                      </a:r>
                      <a:endParaRPr 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9.0916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765944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giga-1k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mask token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2048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0.0370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b="1" u="none" strike="noStrike" dirty="0">
                          <a:effectLst/>
                        </a:rPr>
                        <a:t>0.0041</a:t>
                      </a:r>
                      <a:endParaRPr lang="zh-TW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9.0916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60068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giga-201nt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mask token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64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1.1233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0.7712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-1.4566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4923868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giga-201nt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mask token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128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-7.7278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5.3053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-1.4566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5066289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giga-201nt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mask token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256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1.0205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0.7006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-1.4566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731846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giga-201nt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mask token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512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-7.4202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5.0941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-1.4566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0666602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giga-201nt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mask token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1024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1.1718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0.8045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-1.4566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192163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giga-201nt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mask token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2048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-3.0214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2.0743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-1.4566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947469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giga-201nt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mask token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4096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0.7857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0.5394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-1.4566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3238317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giga-201nt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N token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64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3.3694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0.8045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-4.1880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994797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giga-201nt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N token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128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13.9159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3.3228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-4.1880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949714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giga-201nt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N token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256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-2.5844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0.6171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-4.1880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708413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giga-201nt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N token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512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10.5374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2.5161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-4.1880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276217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giga-201nt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N token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1024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4.8151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1.1497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-4.1880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4300340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giga-201nt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N token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2048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-2.0104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0.4800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-4.1880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368023"/>
                  </a:ext>
                </a:extLst>
              </a:tr>
              <a:tr h="1871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giga-201nt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N token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4096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0.6166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>
                          <a:effectLst/>
                        </a:rPr>
                        <a:t>0.1472</a:t>
                      </a:r>
                      <a:endParaRPr lang="zh-TW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200" u="none" strike="noStrike" dirty="0">
                          <a:effectLst/>
                        </a:rPr>
                        <a:t>-4.1880</a:t>
                      </a:r>
                      <a:endParaRPr 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新細明體" panose="02020500000000000000" pitchFamily="18" charset="-120"/>
                      </a:endParaRPr>
                    </a:p>
                  </a:txBody>
                  <a:tcPr marL="7212" marR="7212" marT="721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96168"/>
                  </a:ext>
                </a:extLst>
              </a:tr>
              <a:tr h="271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giga-1k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mask token out of 201 flank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18.3302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2.0030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9.1513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133038"/>
                  </a:ext>
                </a:extLst>
              </a:tr>
              <a:tr h="271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giga-1k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mask token out of 201 flank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-6.6050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9.1513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86765"/>
                  </a:ext>
                </a:extLst>
              </a:tr>
              <a:tr h="271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giga-1k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mask token out of 201 flank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-3.1762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0.3471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9.1513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8217343"/>
                  </a:ext>
                </a:extLst>
              </a:tr>
              <a:tr h="271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giga-1k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mask token out of 201 flank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-2.7398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0.2994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9.1513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11147"/>
                  </a:ext>
                </a:extLst>
              </a:tr>
              <a:tr h="271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giga-1k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mask token out of 201 flank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-1.3167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9.1513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75250"/>
                  </a:ext>
                </a:extLst>
              </a:tr>
              <a:tr h="271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giga-1k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mask token out of 201 flank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-0.8001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9.1513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730907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0AC2984C-D849-E6E7-96DE-A527043BCA2A}"/>
              </a:ext>
            </a:extLst>
          </p:cNvPr>
          <p:cNvSpPr txBox="1"/>
          <p:nvPr/>
        </p:nvSpPr>
        <p:spPr>
          <a:xfrm>
            <a:off x="8801361" y="271462"/>
            <a:ext cx="3052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By</a:t>
            </a:r>
            <a:r>
              <a:rPr kumimoji="1" lang="zh-TW" altLang="en-US" dirty="0"/>
              <a:t> </a:t>
            </a:r>
            <a:r>
              <a:rPr kumimoji="1" lang="en-US" altLang="zh-TW" dirty="0"/>
              <a:t>arbitrary</a:t>
            </a:r>
            <a:r>
              <a:rPr kumimoji="1" lang="zh-TW" altLang="en-US" dirty="0"/>
              <a:t> </a:t>
            </a:r>
            <a:r>
              <a:rPr kumimoji="1" lang="en-US" altLang="zh-TW" dirty="0"/>
              <a:t>picked</a:t>
            </a:r>
            <a:r>
              <a:rPr kumimoji="1" lang="zh-TW" altLang="en-US" dirty="0"/>
              <a:t> </a:t>
            </a:r>
            <a:r>
              <a:rPr kumimoji="1" lang="en-US" altLang="zh-TW" dirty="0"/>
              <a:t>sequence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7190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6E9D4E-3070-8BF7-9DF9-0D6E9A4C7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Distribution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Delta</a:t>
            </a:r>
            <a:r>
              <a:rPr kumimoji="1" lang="zh-TW" altLang="en-US" dirty="0"/>
              <a:t>  </a:t>
            </a:r>
            <a:r>
              <a:rPr kumimoji="1" lang="en-US" altLang="zh-TW" dirty="0"/>
              <a:t>--</a:t>
            </a:r>
            <a:r>
              <a:rPr kumimoji="1" lang="zh-TW" altLang="en-US" dirty="0"/>
              <a:t> </a:t>
            </a:r>
            <a:r>
              <a:rPr kumimoji="1" lang="en-US" altLang="zh-TW" dirty="0"/>
              <a:t>widely</a:t>
            </a:r>
            <a:r>
              <a:rPr kumimoji="1" lang="zh-TW" altLang="en-US" dirty="0"/>
              <a:t> </a:t>
            </a:r>
            <a:r>
              <a:rPr kumimoji="1" lang="en-US" altLang="zh-TW" dirty="0"/>
              <a:t>distributed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50383F2-A5F0-DCCC-65A7-129693DF022F}"/>
              </a:ext>
            </a:extLst>
          </p:cNvPr>
          <p:cNvSpPr txBox="1"/>
          <p:nvPr/>
        </p:nvSpPr>
        <p:spPr>
          <a:xfrm>
            <a:off x="8969188" y="1559859"/>
            <a:ext cx="1653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4</a:t>
            </a:r>
            <a:r>
              <a:rPr kumimoji="1" lang="zh-TW" altLang="en-US" dirty="0"/>
              <a:t> </a:t>
            </a:r>
            <a:r>
              <a:rPr kumimoji="1" lang="en-US" altLang="zh-TW" dirty="0"/>
              <a:t>/</a:t>
            </a:r>
            <a:r>
              <a:rPr kumimoji="1" lang="zh-TW" altLang="en-US" dirty="0"/>
              <a:t> </a:t>
            </a:r>
            <a:r>
              <a:rPr kumimoji="1" lang="en-US" altLang="zh-TW" dirty="0"/>
              <a:t>109</a:t>
            </a:r>
            <a:r>
              <a:rPr kumimoji="1" lang="zh-TW" altLang="en-US" dirty="0"/>
              <a:t>  </a:t>
            </a:r>
            <a:r>
              <a:rPr kumimoji="1" lang="en-US" altLang="zh-TW" dirty="0"/>
              <a:t>&lt;</a:t>
            </a:r>
            <a:r>
              <a:rPr kumimoji="1" lang="zh-TW" altLang="en-US" dirty="0"/>
              <a:t> </a:t>
            </a:r>
            <a:r>
              <a:rPr kumimoji="1" lang="en-US" altLang="zh-TW" dirty="0"/>
              <a:t>0.05</a:t>
            </a:r>
          </a:p>
          <a:p>
            <a:r>
              <a:rPr kumimoji="1" lang="en-US" altLang="zh-TW" dirty="0"/>
              <a:t>48</a:t>
            </a:r>
            <a:r>
              <a:rPr kumimoji="1" lang="zh-TW" altLang="en-US" dirty="0"/>
              <a:t> </a:t>
            </a:r>
            <a:r>
              <a:rPr kumimoji="1" lang="en-US" altLang="zh-TW" dirty="0"/>
              <a:t>/</a:t>
            </a:r>
            <a:r>
              <a:rPr kumimoji="1" lang="zh-TW" altLang="en-US" dirty="0"/>
              <a:t> </a:t>
            </a:r>
            <a:r>
              <a:rPr kumimoji="1" lang="en-US" altLang="zh-TW" dirty="0"/>
              <a:t>109</a:t>
            </a:r>
            <a:r>
              <a:rPr kumimoji="1" lang="zh-TW" altLang="en-US" dirty="0"/>
              <a:t>  </a:t>
            </a:r>
            <a:r>
              <a:rPr kumimoji="1" lang="en-US" altLang="zh-TW" dirty="0"/>
              <a:t>&lt;</a:t>
            </a:r>
            <a:r>
              <a:rPr kumimoji="1" lang="zh-TW" altLang="en-US" dirty="0"/>
              <a:t> </a:t>
            </a:r>
            <a:r>
              <a:rPr kumimoji="1" lang="en-US" altLang="zh-TW" dirty="0"/>
              <a:t>0.5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C7D89074-818A-4E9C-ADC7-59A317859B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4250" y="2026444"/>
            <a:ext cx="514350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34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8C7014A3-022F-46AF-59D2-61FB4F5F2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Have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Improve</a:t>
            </a:r>
            <a:r>
              <a:rPr lang="zh-TW" altLang="en-US" dirty="0"/>
              <a:t> </a:t>
            </a:r>
            <a:r>
              <a:rPr lang="en-US" altLang="zh-TW" dirty="0"/>
              <a:t>Convergence</a:t>
            </a:r>
            <a:r>
              <a:rPr lang="zh-TW" altLang="en-US" dirty="0"/>
              <a:t> </a:t>
            </a:r>
            <a:r>
              <a:rPr lang="en-US" altLang="zh-TW" dirty="0"/>
              <a:t>Problem</a:t>
            </a:r>
            <a:endParaRPr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5D45ABE9-A846-2DC8-0624-DCE1B10CD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7670" y="1690688"/>
            <a:ext cx="7243483" cy="1958238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5FD78624-62E6-FB86-95A9-DDF344729525}"/>
              </a:ext>
            </a:extLst>
          </p:cNvPr>
          <p:cNvSpPr txBox="1"/>
          <p:nvPr/>
        </p:nvSpPr>
        <p:spPr>
          <a:xfrm>
            <a:off x="4732685" y="3559571"/>
            <a:ext cx="53884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https://medium.com/@nivedhithadm/using-captum-for-interpreting-pytorch-models-in-production-ddf91fbbd3fd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40BE86E-EAA9-F195-76A0-D418319F5A16}"/>
              </a:ext>
            </a:extLst>
          </p:cNvPr>
          <p:cNvSpPr txBox="1"/>
          <p:nvPr/>
        </p:nvSpPr>
        <p:spPr>
          <a:xfrm>
            <a:off x="1048871" y="4420441"/>
            <a:ext cx="8919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Potential</a:t>
            </a:r>
            <a:r>
              <a:rPr kumimoji="1" lang="zh-TW" altLang="en-US" dirty="0"/>
              <a:t> </a:t>
            </a:r>
            <a:r>
              <a:rPr kumimoji="1" lang="en-US" altLang="zh-TW" dirty="0"/>
              <a:t>Action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can</a:t>
            </a:r>
            <a:r>
              <a:rPr kumimoji="1" lang="zh-TW" altLang="en-US" dirty="0"/>
              <a:t> </a:t>
            </a:r>
            <a:r>
              <a:rPr kumimoji="1" lang="en-US" altLang="zh-TW" dirty="0"/>
              <a:t>try: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Re-train</a:t>
            </a:r>
            <a:r>
              <a:rPr kumimoji="1" lang="zh-TW" altLang="en-US" dirty="0"/>
              <a:t> </a:t>
            </a:r>
            <a:r>
              <a:rPr kumimoji="1" lang="en-US" altLang="zh-TW" dirty="0"/>
              <a:t>model</a:t>
            </a:r>
            <a:r>
              <a:rPr kumimoji="1" lang="zh-TW" altLang="en-US" dirty="0"/>
              <a:t> </a:t>
            </a:r>
            <a:r>
              <a:rPr kumimoji="1" lang="en-US" altLang="zh-TW" dirty="0"/>
              <a:t>without</a:t>
            </a:r>
            <a:r>
              <a:rPr kumimoji="1" lang="zh-TW" altLang="en-US" dirty="0"/>
              <a:t> </a:t>
            </a:r>
            <a:r>
              <a:rPr kumimoji="1" lang="en-US" altLang="zh-TW" dirty="0"/>
              <a:t>padding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token</a:t>
            </a:r>
            <a:r>
              <a:rPr kumimoji="1" lang="zh-TW" altLang="en-US" dirty="0"/>
              <a:t> </a:t>
            </a:r>
            <a:r>
              <a:rPr kumimoji="1" lang="en-US" altLang="zh-TW" dirty="0"/>
              <a:t>masking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,</a:t>
            </a:r>
            <a:r>
              <a:rPr kumimoji="1" lang="zh-TW" altLang="en-US" dirty="0"/>
              <a:t> </a:t>
            </a:r>
            <a:r>
              <a:rPr kumimoji="1" lang="en-US" altLang="zh-TW" dirty="0"/>
              <a:t>then</a:t>
            </a:r>
            <a:r>
              <a:rPr kumimoji="1" lang="zh-TW" altLang="en-US" dirty="0"/>
              <a:t> </a:t>
            </a:r>
            <a:r>
              <a:rPr kumimoji="1" lang="en-US" altLang="zh-TW" dirty="0"/>
              <a:t>use</a:t>
            </a:r>
            <a:r>
              <a:rPr kumimoji="1" lang="zh-TW" altLang="en-US" dirty="0"/>
              <a:t> </a:t>
            </a:r>
            <a:r>
              <a:rPr kumimoji="1" lang="en-US" altLang="zh-TW" dirty="0"/>
              <a:t>padding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token</a:t>
            </a:r>
            <a:r>
              <a:rPr kumimoji="1" lang="zh-TW" altLang="en-US" dirty="0"/>
              <a:t> </a:t>
            </a:r>
            <a:r>
              <a:rPr kumimoji="1" lang="en-US" altLang="zh-TW" dirty="0"/>
              <a:t>as</a:t>
            </a:r>
            <a:r>
              <a:rPr kumimoji="1" lang="zh-TW" altLang="en-US" dirty="0"/>
              <a:t> </a:t>
            </a:r>
            <a:r>
              <a:rPr kumimoji="1" lang="en-US" altLang="zh-TW" dirty="0"/>
              <a:t>baseline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Re-train</a:t>
            </a:r>
            <a:r>
              <a:rPr kumimoji="1" lang="zh-TW" altLang="en-US" dirty="0"/>
              <a:t> </a:t>
            </a:r>
            <a:r>
              <a:rPr kumimoji="1" lang="en-US" altLang="zh-TW" dirty="0"/>
              <a:t>model</a:t>
            </a:r>
            <a:r>
              <a:rPr kumimoji="1" lang="zh-TW" altLang="en-US" dirty="0"/>
              <a:t> </a:t>
            </a:r>
            <a:r>
              <a:rPr kumimoji="1" lang="en-US" altLang="zh-TW" dirty="0"/>
              <a:t>without</a:t>
            </a:r>
            <a:r>
              <a:rPr kumimoji="1" lang="zh-TW" altLang="en-US" dirty="0"/>
              <a:t> </a:t>
            </a:r>
            <a:r>
              <a:rPr kumimoji="1" lang="en-US" altLang="zh-TW" dirty="0"/>
              <a:t>padding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token</a:t>
            </a:r>
            <a:r>
              <a:rPr kumimoji="1" lang="zh-TW" altLang="en-US" dirty="0"/>
              <a:t> </a:t>
            </a:r>
            <a:r>
              <a:rPr kumimoji="1" lang="en-US" altLang="zh-TW" dirty="0"/>
              <a:t>masking,</a:t>
            </a:r>
            <a:r>
              <a:rPr kumimoji="1" lang="zh-TW" altLang="en-US" dirty="0"/>
              <a:t> </a:t>
            </a:r>
            <a:r>
              <a:rPr kumimoji="1" lang="en-US" altLang="zh-TW" dirty="0"/>
              <a:t>and</a:t>
            </a:r>
            <a:r>
              <a:rPr kumimoji="1" lang="zh-TW" altLang="en-US" dirty="0"/>
              <a:t> </a:t>
            </a:r>
            <a:r>
              <a:rPr kumimoji="1" lang="en-US" altLang="zh-TW" dirty="0"/>
              <a:t>use</a:t>
            </a:r>
            <a:r>
              <a:rPr kumimoji="1" lang="zh-TW" altLang="en-US" dirty="0"/>
              <a:t> </a:t>
            </a:r>
            <a:r>
              <a:rPr kumimoji="1" lang="en-US" altLang="zh-TW" dirty="0"/>
              <a:t>Mask</a:t>
            </a:r>
            <a:r>
              <a:rPr kumimoji="1" lang="zh-TW" altLang="en-US" dirty="0"/>
              <a:t> </a:t>
            </a:r>
            <a:r>
              <a:rPr kumimoji="1" lang="en-US" altLang="zh-TW" dirty="0"/>
              <a:t>token</a:t>
            </a:r>
            <a:r>
              <a:rPr kumimoji="1" lang="zh-TW" altLang="en-US" dirty="0"/>
              <a:t> </a:t>
            </a:r>
            <a:r>
              <a:rPr kumimoji="1" lang="en-US" altLang="zh-TW" dirty="0"/>
              <a:t>as</a:t>
            </a:r>
            <a:r>
              <a:rPr kumimoji="1" lang="zh-TW" altLang="en-US" dirty="0"/>
              <a:t> </a:t>
            </a:r>
            <a:r>
              <a:rPr kumimoji="1" lang="en-US" altLang="zh-TW" dirty="0"/>
              <a:t>Padding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token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1947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D1CCE3-0B1D-3FB6-D776-1B8E429D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Heatmap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Positive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Prediction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Sample</a:t>
            </a:r>
            <a:r>
              <a:rPr kumimoji="1" lang="zh-TW" altLang="en-US" dirty="0"/>
              <a:t> </a:t>
            </a:r>
            <a:r>
              <a:rPr kumimoji="1" lang="en-US" altLang="zh-TW" dirty="0"/>
              <a:t>on</a:t>
            </a:r>
            <a:r>
              <a:rPr kumimoji="1" lang="zh-TW" altLang="en-US" dirty="0"/>
              <a:t> </a:t>
            </a:r>
            <a:r>
              <a:rPr kumimoji="1" lang="en-US" altLang="zh-TW" dirty="0"/>
              <a:t>Integrate</a:t>
            </a:r>
            <a:r>
              <a:rPr kumimoji="1" lang="zh-TW" altLang="en-US" dirty="0"/>
              <a:t> </a:t>
            </a:r>
            <a:r>
              <a:rPr kumimoji="1" lang="en-US" altLang="zh-TW" dirty="0"/>
              <a:t>Gradient</a:t>
            </a:r>
            <a:r>
              <a:rPr kumimoji="1" lang="zh-TW" altLang="en-US" dirty="0"/>
              <a:t> </a:t>
            </a:r>
            <a:r>
              <a:rPr kumimoji="1" lang="en-US" altLang="zh-TW" dirty="0"/>
              <a:t>Attributions</a:t>
            </a:r>
            <a:endParaRPr kumimoji="1" lang="zh-TW" altLang="en-US" dirty="0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C4D8D289-0583-840C-5D4F-CA2E14777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500nt</a:t>
            </a:r>
            <a:r>
              <a:rPr lang="zh-TW" altLang="en-US" dirty="0"/>
              <a:t> </a:t>
            </a:r>
            <a:r>
              <a:rPr lang="en-US" altLang="zh-TW" dirty="0"/>
              <a:t>on</a:t>
            </a:r>
            <a:r>
              <a:rPr lang="zh-TW" altLang="en-US" dirty="0"/>
              <a:t> </a:t>
            </a:r>
            <a:r>
              <a:rPr lang="en-US" altLang="zh-TW" dirty="0"/>
              <a:t>each</a:t>
            </a:r>
            <a:r>
              <a:rPr lang="zh-TW" altLang="en-US" dirty="0"/>
              <a:t> </a:t>
            </a:r>
            <a:r>
              <a:rPr lang="en-US" altLang="zh-TW" dirty="0"/>
              <a:t>side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B7976EA8-6A77-F2EE-E268-D50D9B0AE0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51412" y="2505075"/>
            <a:ext cx="3334539" cy="3684588"/>
          </a:xfrm>
          <a:prstGeom prst="rect">
            <a:avLst/>
          </a:prstGeom>
        </p:spPr>
      </p:pic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9758E078-AC65-89D3-11FE-312726824B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/>
              <a:t>50nt</a:t>
            </a:r>
            <a:r>
              <a:rPr lang="zh-TW" altLang="en-US" dirty="0"/>
              <a:t> </a:t>
            </a:r>
            <a:r>
              <a:rPr lang="en-US" altLang="zh-TW" dirty="0"/>
              <a:t>on</a:t>
            </a:r>
            <a:r>
              <a:rPr lang="zh-TW" altLang="en-US" dirty="0"/>
              <a:t> </a:t>
            </a:r>
            <a:r>
              <a:rPr lang="en-US" altLang="zh-TW" dirty="0"/>
              <a:t>each</a:t>
            </a:r>
            <a:r>
              <a:rPr lang="zh-TW" altLang="en-US" dirty="0"/>
              <a:t> </a:t>
            </a:r>
            <a:r>
              <a:rPr lang="en-US" altLang="zh-TW" dirty="0"/>
              <a:t>side</a:t>
            </a:r>
            <a:endParaRPr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0F38985B-55E7-50E5-15B2-D3A35A64125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096524" y="2505075"/>
            <a:ext cx="3334539" cy="368458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84F1A9D0-679F-0F0D-82E3-F139343C9FCB}"/>
              </a:ext>
            </a:extLst>
          </p:cNvPr>
          <p:cNvSpPr txBox="1"/>
          <p:nvPr/>
        </p:nvSpPr>
        <p:spPr>
          <a:xfrm>
            <a:off x="8763793" y="1128385"/>
            <a:ext cx="3428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On</a:t>
            </a:r>
            <a:r>
              <a:rPr kumimoji="1" lang="zh-TW" altLang="en-US" dirty="0"/>
              <a:t> </a:t>
            </a:r>
            <a:r>
              <a:rPr kumimoji="1" lang="en-US" altLang="zh-TW" dirty="0"/>
              <a:t>select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relative_delta</a:t>
            </a:r>
            <a:r>
              <a:rPr kumimoji="1" lang="zh-TW" altLang="en-US" dirty="0"/>
              <a:t> </a:t>
            </a:r>
            <a:r>
              <a:rPr kumimoji="1" lang="en-US" altLang="zh-TW" dirty="0"/>
              <a:t>&lt;</a:t>
            </a:r>
            <a:r>
              <a:rPr kumimoji="1" lang="zh-TW" altLang="en-US" dirty="0"/>
              <a:t> </a:t>
            </a:r>
            <a:r>
              <a:rPr kumimoji="1" lang="en-US" altLang="zh-TW" dirty="0"/>
              <a:t>0.1,</a:t>
            </a:r>
          </a:p>
          <a:p>
            <a:r>
              <a:rPr kumimoji="1" lang="en-US" altLang="zh-TW" dirty="0"/>
              <a:t>Predict</a:t>
            </a:r>
            <a:r>
              <a:rPr kumimoji="1" lang="zh-TW" altLang="en-US" dirty="0"/>
              <a:t> </a:t>
            </a:r>
            <a:r>
              <a:rPr kumimoji="1" lang="en-US" altLang="zh-TW" dirty="0"/>
              <a:t>as</a:t>
            </a:r>
            <a:r>
              <a:rPr kumimoji="1" lang="zh-TW" altLang="en-US" dirty="0"/>
              <a:t> </a:t>
            </a:r>
            <a:r>
              <a:rPr kumimoji="1" lang="en-US" altLang="zh-TW" dirty="0"/>
              <a:t>positive</a:t>
            </a:r>
            <a:r>
              <a:rPr kumimoji="1" lang="zh-TW" altLang="en-US" dirty="0"/>
              <a:t> </a:t>
            </a:r>
            <a:r>
              <a:rPr kumimoji="1" lang="en-US" altLang="zh-TW" dirty="0"/>
              <a:t>label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16009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2187B1-DBF7-863A-8FD4-1CF59BBA8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“[MASK]” Token as Baseline,</a:t>
            </a:r>
            <a:r>
              <a:rPr kumimoji="1" lang="zh-TW" altLang="en-US" dirty="0"/>
              <a:t> </a:t>
            </a:r>
            <a:r>
              <a:rPr kumimoji="1" lang="en-US" altLang="zh-TW" dirty="0"/>
              <a:t>Token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Contribution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Negative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Prediction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18254F5-E552-3AA4-B345-463503E3C677}"/>
              </a:ext>
            </a:extLst>
          </p:cNvPr>
          <p:cNvSpPr txBox="1"/>
          <p:nvPr/>
        </p:nvSpPr>
        <p:spPr>
          <a:xfrm>
            <a:off x="1252537" y="1877097"/>
            <a:ext cx="218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By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RiNALMo</a:t>
            </a:r>
            <a:r>
              <a:rPr kumimoji="1" lang="zh-TW" altLang="en-US" dirty="0"/>
              <a:t> </a:t>
            </a:r>
            <a:r>
              <a:rPr kumimoji="1" lang="en-US" altLang="zh-TW" dirty="0"/>
              <a:t>Giga-1k</a:t>
            </a:r>
            <a:endParaRPr kumimoji="1" lang="zh-TW" altLang="en-US" dirty="0"/>
          </a:p>
        </p:txBody>
      </p:sp>
      <p:pic>
        <p:nvPicPr>
          <p:cNvPr id="15" name="內容版面配置區 14">
            <a:extLst>
              <a:ext uri="{FF2B5EF4-FFF2-40B4-BE49-F238E27FC236}">
                <a16:creationId xmlns:a16="http://schemas.microsoft.com/office/drawing/2014/main" id="{28DB35F3-4AA7-F4F8-668B-65EF893057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32839"/>
            <a:ext cx="10515600" cy="313690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6AADBB7-6E9E-882F-D13A-493511F7FD3E}"/>
              </a:ext>
            </a:extLst>
          </p:cNvPr>
          <p:cNvSpPr txBox="1"/>
          <p:nvPr/>
        </p:nvSpPr>
        <p:spPr>
          <a:xfrm>
            <a:off x="5415804" y="556974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Normalize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zh-TW" altLang="zh-TW" dirty="0"/>
              <a:t>abs(attrs).max()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56337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031409-774F-09EA-3EB2-3A230F67A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“[MASK]” Token as Baseline,</a:t>
            </a:r>
            <a:r>
              <a:rPr kumimoji="1" lang="zh-TW" altLang="en-US" dirty="0"/>
              <a:t> </a:t>
            </a:r>
            <a:r>
              <a:rPr kumimoji="1" lang="en-US" altLang="zh-TW" dirty="0"/>
              <a:t>Token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Contribution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Positive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Prediction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0683E00-0A0F-3200-0ECE-DA0966B28DB1}"/>
              </a:ext>
            </a:extLst>
          </p:cNvPr>
          <p:cNvSpPr txBox="1"/>
          <p:nvPr/>
        </p:nvSpPr>
        <p:spPr>
          <a:xfrm>
            <a:off x="838200" y="18770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/>
              <a:t>By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RiNALMo</a:t>
            </a:r>
            <a:r>
              <a:rPr kumimoji="1" lang="zh-TW" altLang="en-US" dirty="0"/>
              <a:t> </a:t>
            </a:r>
            <a:r>
              <a:rPr kumimoji="1" lang="en-US" altLang="zh-TW" dirty="0"/>
              <a:t>Giga-1k</a:t>
            </a:r>
            <a:endParaRPr kumimoji="1" lang="zh-TW" altLang="en-US" dirty="0"/>
          </a:p>
        </p:txBody>
      </p:sp>
      <p:pic>
        <p:nvPicPr>
          <p:cNvPr id="15" name="內容版面配置區 14">
            <a:extLst>
              <a:ext uri="{FF2B5EF4-FFF2-40B4-BE49-F238E27FC236}">
                <a16:creationId xmlns:a16="http://schemas.microsoft.com/office/drawing/2014/main" id="{9B13D712-3160-B4A7-207A-EE3B443E01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32839"/>
            <a:ext cx="10515600" cy="313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9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07266B-2CA3-C174-6E52-5C0275DD1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Select</a:t>
            </a:r>
            <a:r>
              <a:rPr kumimoji="1" lang="zh-TW" altLang="en-US" dirty="0"/>
              <a:t> </a:t>
            </a:r>
            <a:r>
              <a:rPr kumimoji="1" lang="en-US" altLang="zh-TW" dirty="0"/>
              <a:t>samples</a:t>
            </a:r>
            <a:r>
              <a:rPr kumimoji="1" lang="zh-TW" altLang="en-US" dirty="0"/>
              <a:t> </a:t>
            </a:r>
            <a:r>
              <a:rPr kumimoji="1" lang="en-US" altLang="zh-TW" dirty="0"/>
              <a:t>with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prediction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changed</a:t>
            </a:r>
            <a:r>
              <a:rPr kumimoji="1" lang="zh-TW" altLang="en-US" dirty="0"/>
              <a:t> </a:t>
            </a:r>
            <a:r>
              <a:rPr kumimoji="1" lang="en-US" altLang="zh-TW" dirty="0"/>
              <a:t>when</a:t>
            </a:r>
            <a:r>
              <a:rPr kumimoji="1" lang="zh-TW" altLang="en-US" dirty="0"/>
              <a:t> </a:t>
            </a:r>
            <a:r>
              <a:rPr kumimoji="1" lang="en-US" altLang="zh-TW" dirty="0"/>
              <a:t>provide</a:t>
            </a:r>
            <a:r>
              <a:rPr kumimoji="1" lang="zh-TW" altLang="en-US" dirty="0"/>
              <a:t> </a:t>
            </a:r>
            <a:r>
              <a:rPr kumimoji="1" lang="en-US" altLang="zh-TW" dirty="0"/>
              <a:t>larger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context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71E651-1D08-2B5D-8246-00D66592C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Padding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around</a:t>
            </a:r>
            <a:r>
              <a:rPr kumimoji="1" lang="zh-TW" altLang="en-US" dirty="0"/>
              <a:t> </a:t>
            </a:r>
            <a:r>
              <a:rPr kumimoji="1" lang="en-US" altLang="zh-TW" dirty="0"/>
              <a:t>TIS</a:t>
            </a:r>
            <a:r>
              <a:rPr kumimoji="1" lang="zh-TW" altLang="en-US" dirty="0"/>
              <a:t> </a:t>
            </a:r>
            <a:r>
              <a:rPr kumimoji="1" lang="en-US" altLang="zh-TW" dirty="0"/>
              <a:t>201nt</a:t>
            </a:r>
            <a:r>
              <a:rPr kumimoji="1" lang="zh-TW" altLang="en-US" dirty="0"/>
              <a:t> </a:t>
            </a:r>
            <a:r>
              <a:rPr kumimoji="1" lang="en-US" altLang="zh-TW" dirty="0"/>
              <a:t>flank</a:t>
            </a:r>
            <a:r>
              <a:rPr kumimoji="1" lang="zh-TW" altLang="en-US" dirty="0"/>
              <a:t> </a:t>
            </a:r>
            <a:r>
              <a:rPr kumimoji="1" lang="en-US" altLang="zh-TW" dirty="0"/>
              <a:t>region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feed</a:t>
            </a:r>
            <a:r>
              <a:rPr kumimoji="1" lang="zh-TW" altLang="en-US" dirty="0"/>
              <a:t> </a:t>
            </a:r>
            <a:r>
              <a:rPr kumimoji="1" lang="en-US" altLang="zh-TW" dirty="0"/>
              <a:t>giga-1k</a:t>
            </a:r>
            <a:r>
              <a:rPr kumimoji="1" lang="zh-TW" altLang="en-US" dirty="0"/>
              <a:t> </a:t>
            </a:r>
            <a:r>
              <a:rPr kumimoji="1" lang="en-US" altLang="zh-TW" dirty="0"/>
              <a:t>model</a:t>
            </a:r>
            <a:endParaRPr kumimoji="1"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A73B52-8B95-69E3-07EE-68FBBF53F4D9}"/>
              </a:ext>
            </a:extLst>
          </p:cNvPr>
          <p:cNvSpPr/>
          <p:nvPr/>
        </p:nvSpPr>
        <p:spPr>
          <a:xfrm>
            <a:off x="2339788" y="2868847"/>
            <a:ext cx="7221071" cy="2420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897B4C27-E512-DA25-54D9-E2D178B867EC}"/>
              </a:ext>
            </a:extLst>
          </p:cNvPr>
          <p:cNvCxnSpPr>
            <a:cxnSpLocks/>
            <a:endCxn id="4" idx="2"/>
          </p:cNvCxnSpPr>
          <p:nvPr/>
        </p:nvCxnSpPr>
        <p:spPr>
          <a:xfrm flipH="1">
            <a:off x="5950324" y="2855400"/>
            <a:ext cx="11205" cy="2554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555E753D-AB95-DB7B-4C81-2680959B4CE9}"/>
              </a:ext>
            </a:extLst>
          </p:cNvPr>
          <p:cNvSpPr txBox="1"/>
          <p:nvPr/>
        </p:nvSpPr>
        <p:spPr>
          <a:xfrm>
            <a:off x="5741894" y="2451988"/>
            <a:ext cx="524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TIS</a:t>
            </a:r>
            <a:endParaRPr kumimoji="1"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BDBBE1-6C9A-C824-02D5-7B892D027F3A}"/>
              </a:ext>
            </a:extLst>
          </p:cNvPr>
          <p:cNvSpPr/>
          <p:nvPr/>
        </p:nvSpPr>
        <p:spPr>
          <a:xfrm>
            <a:off x="2350993" y="3763870"/>
            <a:ext cx="7221071" cy="2420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B813BA-552D-7FBA-3E69-C621CFAF39C7}"/>
              </a:ext>
            </a:extLst>
          </p:cNvPr>
          <p:cNvSpPr/>
          <p:nvPr/>
        </p:nvSpPr>
        <p:spPr>
          <a:xfrm rot="10800000" flipV="1">
            <a:off x="2339787" y="2878091"/>
            <a:ext cx="1277471" cy="2328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86AC6E4-8A41-4766-D8FE-6487CD957CFC}"/>
              </a:ext>
            </a:extLst>
          </p:cNvPr>
          <p:cNvSpPr txBox="1"/>
          <p:nvPr/>
        </p:nvSpPr>
        <p:spPr>
          <a:xfrm>
            <a:off x="591671" y="282132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normal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7BBC2F3-2552-2A14-9C84-4CD7B301AE5A}"/>
              </a:ext>
            </a:extLst>
          </p:cNvPr>
          <p:cNvSpPr txBox="1"/>
          <p:nvPr/>
        </p:nvSpPr>
        <p:spPr>
          <a:xfrm>
            <a:off x="591671" y="3700227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modified</a:t>
            </a:r>
            <a:endParaRPr kumimoji="1"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CBE5BC9-9498-C3E1-02E3-EE21B967B3EA}"/>
              </a:ext>
            </a:extLst>
          </p:cNvPr>
          <p:cNvSpPr/>
          <p:nvPr/>
        </p:nvSpPr>
        <p:spPr>
          <a:xfrm rot="10800000" flipV="1">
            <a:off x="2350993" y="3768491"/>
            <a:ext cx="1277471" cy="2328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082FF4-BDDF-29B9-8BEE-7A105D64E6B5}"/>
              </a:ext>
            </a:extLst>
          </p:cNvPr>
          <p:cNvSpPr/>
          <p:nvPr/>
        </p:nvSpPr>
        <p:spPr>
          <a:xfrm rot="10800000" flipV="1">
            <a:off x="3628464" y="3775425"/>
            <a:ext cx="1277471" cy="23280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5393BF-EEA8-24E1-336C-1DD582B76301}"/>
              </a:ext>
            </a:extLst>
          </p:cNvPr>
          <p:cNvSpPr/>
          <p:nvPr/>
        </p:nvSpPr>
        <p:spPr>
          <a:xfrm rot="10800000" flipV="1">
            <a:off x="7017123" y="3761557"/>
            <a:ext cx="1277471" cy="23280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888A07-1FF3-DB18-ED41-88AD627DC157}"/>
              </a:ext>
            </a:extLst>
          </p:cNvPr>
          <p:cNvSpPr/>
          <p:nvPr/>
        </p:nvSpPr>
        <p:spPr>
          <a:xfrm rot="10800000" flipV="1">
            <a:off x="8294594" y="3768491"/>
            <a:ext cx="1277471" cy="2328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  <p:sp>
        <p:nvSpPr>
          <p:cNvPr id="21" name="右大括弧 20">
            <a:extLst>
              <a:ext uri="{FF2B5EF4-FFF2-40B4-BE49-F238E27FC236}">
                <a16:creationId xmlns:a16="http://schemas.microsoft.com/office/drawing/2014/main" id="{7CC67F35-A450-CE40-F17C-2DBE4B51A73C}"/>
              </a:ext>
            </a:extLst>
          </p:cNvPr>
          <p:cNvSpPr/>
          <p:nvPr/>
        </p:nvSpPr>
        <p:spPr>
          <a:xfrm rot="5400000">
            <a:off x="5738988" y="3199228"/>
            <a:ext cx="496420" cy="205984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EE66BCF-6B24-305A-3D51-45D5861A52BF}"/>
              </a:ext>
            </a:extLst>
          </p:cNvPr>
          <p:cNvSpPr txBox="1"/>
          <p:nvPr/>
        </p:nvSpPr>
        <p:spPr>
          <a:xfrm>
            <a:off x="5616389" y="4612299"/>
            <a:ext cx="1299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201nt</a:t>
            </a:r>
            <a:endParaRPr kumimoji="1" lang="zh-TW" altLang="en-US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B752888D-A968-7B47-86C0-D8A21E693239}"/>
              </a:ext>
            </a:extLst>
          </p:cNvPr>
          <p:cNvCxnSpPr>
            <a:cxnSpLocks/>
          </p:cNvCxnSpPr>
          <p:nvPr/>
        </p:nvCxnSpPr>
        <p:spPr>
          <a:xfrm flipH="1">
            <a:off x="5945841" y="3782829"/>
            <a:ext cx="11205" cy="2554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C8FE4B-431D-B83B-5ACB-4A15805844AD}"/>
              </a:ext>
            </a:extLst>
          </p:cNvPr>
          <p:cNvSpPr txBox="1"/>
          <p:nvPr/>
        </p:nvSpPr>
        <p:spPr>
          <a:xfrm>
            <a:off x="5737411" y="3379417"/>
            <a:ext cx="524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TIS</a:t>
            </a:r>
            <a:endParaRPr kumimoji="1"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D96D5CC-7718-847E-8F1A-60C63A6C1E21}"/>
              </a:ext>
            </a:extLst>
          </p:cNvPr>
          <p:cNvSpPr txBox="1"/>
          <p:nvPr/>
        </p:nvSpPr>
        <p:spPr>
          <a:xfrm>
            <a:off x="10237696" y="2988946"/>
            <a:ext cx="1656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Select</a:t>
            </a:r>
            <a:r>
              <a:rPr kumimoji="1" lang="zh-TW" altLang="en-US" dirty="0"/>
              <a:t> </a:t>
            </a:r>
            <a:r>
              <a:rPr kumimoji="1" lang="en-US" altLang="zh-TW" dirty="0"/>
              <a:t>sample</a:t>
            </a:r>
            <a:r>
              <a:rPr kumimoji="1" lang="zh-TW" altLang="en-US" dirty="0"/>
              <a:t> </a:t>
            </a:r>
            <a:r>
              <a:rPr kumimoji="1" lang="en-US" altLang="zh-TW" dirty="0"/>
              <a:t>if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prediction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changed</a:t>
            </a:r>
            <a:endParaRPr kumimoji="1" lang="zh-TW" altLang="en-US" dirty="0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9ECBD003-BEB8-7B4C-8803-586A8292CCD9}"/>
              </a:ext>
            </a:extLst>
          </p:cNvPr>
          <p:cNvCxnSpPr>
            <a:stCxn id="4" idx="3"/>
            <a:endCxn id="25" idx="1"/>
          </p:cNvCxnSpPr>
          <p:nvPr/>
        </p:nvCxnSpPr>
        <p:spPr>
          <a:xfrm>
            <a:off x="9560859" y="2989871"/>
            <a:ext cx="676837" cy="4607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D4AFBEC9-3BE3-B203-70BE-AEB9671E119A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9572064" y="3450611"/>
            <a:ext cx="665632" cy="4599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744FCB2C-85CE-57AB-7EF9-34620921E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67111"/>
              </p:ext>
            </p:extLst>
          </p:nvPr>
        </p:nvGraphicFramePr>
        <p:xfrm>
          <a:off x="1876707" y="5116568"/>
          <a:ext cx="8021435" cy="1549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4287">
                  <a:extLst>
                    <a:ext uri="{9D8B030D-6E8A-4147-A177-3AD203B41FA5}">
                      <a16:colId xmlns:a16="http://schemas.microsoft.com/office/drawing/2014/main" val="1205153345"/>
                    </a:ext>
                  </a:extLst>
                </a:gridCol>
                <a:gridCol w="1604287">
                  <a:extLst>
                    <a:ext uri="{9D8B030D-6E8A-4147-A177-3AD203B41FA5}">
                      <a16:colId xmlns:a16="http://schemas.microsoft.com/office/drawing/2014/main" val="4001447404"/>
                    </a:ext>
                  </a:extLst>
                </a:gridCol>
                <a:gridCol w="1604287">
                  <a:extLst>
                    <a:ext uri="{9D8B030D-6E8A-4147-A177-3AD203B41FA5}">
                      <a16:colId xmlns:a16="http://schemas.microsoft.com/office/drawing/2014/main" val="3355537394"/>
                    </a:ext>
                  </a:extLst>
                </a:gridCol>
                <a:gridCol w="1604287">
                  <a:extLst>
                    <a:ext uri="{9D8B030D-6E8A-4147-A177-3AD203B41FA5}">
                      <a16:colId xmlns:a16="http://schemas.microsoft.com/office/drawing/2014/main" val="880189425"/>
                    </a:ext>
                  </a:extLst>
                </a:gridCol>
                <a:gridCol w="1604287">
                  <a:extLst>
                    <a:ext uri="{9D8B030D-6E8A-4147-A177-3AD203B41FA5}">
                      <a16:colId xmlns:a16="http://schemas.microsoft.com/office/drawing/2014/main" val="2716247567"/>
                    </a:ext>
                  </a:extLst>
                </a:gridCol>
              </a:tblGrid>
              <a:tr h="454570">
                <a:tc>
                  <a:txBody>
                    <a:bodyPr/>
                    <a:lstStyle/>
                    <a:p>
                      <a:r>
                        <a:rPr lang="en-US" altLang="zh-TW" dirty="0"/>
                        <a:t>Label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Total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Giga1k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Giga1k-input-truncated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Found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164315"/>
                  </a:ext>
                </a:extLst>
              </a:tr>
              <a:tr h="45457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879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064128"/>
                  </a:ext>
                </a:extLst>
              </a:tr>
              <a:tr h="45457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6006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215348"/>
                  </a:ext>
                </a:extLst>
              </a:tr>
            </a:tbl>
          </a:graphicData>
        </a:graphic>
      </p:graphicFrame>
      <p:sp>
        <p:nvSpPr>
          <p:cNvPr id="32" name="文字方塊 31">
            <a:extLst>
              <a:ext uri="{FF2B5EF4-FFF2-40B4-BE49-F238E27FC236}">
                <a16:creationId xmlns:a16="http://schemas.microsoft.com/office/drawing/2014/main" id="{B4C4D6D7-819F-5B86-D2BA-4BBFEDEDE4D6}"/>
              </a:ext>
            </a:extLst>
          </p:cNvPr>
          <p:cNvSpPr txBox="1"/>
          <p:nvPr/>
        </p:nvSpPr>
        <p:spPr>
          <a:xfrm flipH="1">
            <a:off x="298075" y="5705900"/>
            <a:ext cx="166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Find</a:t>
            </a:r>
            <a:r>
              <a:rPr kumimoji="1" lang="zh-TW" altLang="en-US" dirty="0"/>
              <a:t> </a:t>
            </a:r>
            <a:r>
              <a:rPr kumimoji="1" lang="en-US" altLang="zh-TW" dirty="0"/>
              <a:t>out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74221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D92995-626D-873E-B0E8-206E61AC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Baseline</a:t>
            </a:r>
            <a:r>
              <a:rPr kumimoji="1" lang="zh-TW" altLang="en-US" dirty="0"/>
              <a:t> </a:t>
            </a:r>
            <a:r>
              <a:rPr kumimoji="1" lang="en-US" altLang="zh-TW" dirty="0"/>
              <a:t>for</a:t>
            </a:r>
            <a:r>
              <a:rPr kumimoji="1" lang="zh-TW" altLang="en-US" dirty="0"/>
              <a:t> </a:t>
            </a:r>
            <a:r>
              <a:rPr kumimoji="1" lang="en-US" altLang="zh-TW" dirty="0"/>
              <a:t>Extra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Context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Contribution</a:t>
            </a:r>
            <a:endParaRPr kumimoji="1"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DF0C56-698E-D886-B372-85D98871C748}"/>
              </a:ext>
            </a:extLst>
          </p:cNvPr>
          <p:cNvSpPr/>
          <p:nvPr/>
        </p:nvSpPr>
        <p:spPr>
          <a:xfrm>
            <a:off x="2339788" y="2868847"/>
            <a:ext cx="7221071" cy="2420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4D341749-1C51-6BE8-CB4C-75A469100961}"/>
              </a:ext>
            </a:extLst>
          </p:cNvPr>
          <p:cNvCxnSpPr>
            <a:cxnSpLocks/>
            <a:endCxn id="4" idx="2"/>
          </p:cNvCxnSpPr>
          <p:nvPr/>
        </p:nvCxnSpPr>
        <p:spPr>
          <a:xfrm flipH="1">
            <a:off x="5950324" y="2855400"/>
            <a:ext cx="11205" cy="2554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698BBEE9-0CF6-9EE4-A0A6-51A01515FD57}"/>
              </a:ext>
            </a:extLst>
          </p:cNvPr>
          <p:cNvSpPr txBox="1"/>
          <p:nvPr/>
        </p:nvSpPr>
        <p:spPr>
          <a:xfrm>
            <a:off x="5741894" y="2451988"/>
            <a:ext cx="524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TIS</a:t>
            </a:r>
            <a:endParaRPr kumimoji="1"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D16247-372C-B387-3000-F98A96F2D69F}"/>
              </a:ext>
            </a:extLst>
          </p:cNvPr>
          <p:cNvSpPr/>
          <p:nvPr/>
        </p:nvSpPr>
        <p:spPr>
          <a:xfrm>
            <a:off x="2350993" y="3763870"/>
            <a:ext cx="7221071" cy="2420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C43178-C5C4-BF78-AEA6-A8F6A3FC2E08}"/>
              </a:ext>
            </a:extLst>
          </p:cNvPr>
          <p:cNvSpPr/>
          <p:nvPr/>
        </p:nvSpPr>
        <p:spPr>
          <a:xfrm rot="10800000" flipV="1">
            <a:off x="2339787" y="2878091"/>
            <a:ext cx="1277471" cy="2328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D94D71-7D0C-D461-EB18-C761301C72C8}"/>
              </a:ext>
            </a:extLst>
          </p:cNvPr>
          <p:cNvSpPr txBox="1"/>
          <p:nvPr/>
        </p:nvSpPr>
        <p:spPr>
          <a:xfrm>
            <a:off x="591671" y="282132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normal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5417235-89C5-CE17-A8FB-F94472C36635}"/>
              </a:ext>
            </a:extLst>
          </p:cNvPr>
          <p:cNvSpPr txBox="1"/>
          <p:nvPr/>
        </p:nvSpPr>
        <p:spPr>
          <a:xfrm>
            <a:off x="591671" y="3700227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baseline</a:t>
            </a:r>
            <a:endParaRPr kumimoji="1"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38803E-AF02-7275-4C3D-D4F6E7B5D279}"/>
              </a:ext>
            </a:extLst>
          </p:cNvPr>
          <p:cNvSpPr/>
          <p:nvPr/>
        </p:nvSpPr>
        <p:spPr>
          <a:xfrm rot="10800000" flipV="1">
            <a:off x="2350993" y="3768491"/>
            <a:ext cx="1277471" cy="2328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AFD994-730E-8CC3-D87D-32F0F1674416}"/>
              </a:ext>
            </a:extLst>
          </p:cNvPr>
          <p:cNvSpPr/>
          <p:nvPr/>
        </p:nvSpPr>
        <p:spPr>
          <a:xfrm rot="10800000" flipV="1">
            <a:off x="3628461" y="3764539"/>
            <a:ext cx="1405219" cy="22982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…MMMM…</a:t>
            </a:r>
            <a:endParaRPr kumimoji="1"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E5B7AA-12DE-D4E4-87E9-B3108345F4C6}"/>
              </a:ext>
            </a:extLst>
          </p:cNvPr>
          <p:cNvSpPr/>
          <p:nvPr/>
        </p:nvSpPr>
        <p:spPr>
          <a:xfrm rot="10800000" flipV="1">
            <a:off x="7017123" y="3761557"/>
            <a:ext cx="1277471" cy="23280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…MMMM...</a:t>
            </a:r>
            <a:endParaRPr kumimoji="1"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536B4A-E119-BB4B-E244-D1DB5D208CC9}"/>
              </a:ext>
            </a:extLst>
          </p:cNvPr>
          <p:cNvSpPr/>
          <p:nvPr/>
        </p:nvSpPr>
        <p:spPr>
          <a:xfrm rot="10800000" flipV="1">
            <a:off x="8294594" y="3768491"/>
            <a:ext cx="1277471" cy="2328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  <p:sp>
        <p:nvSpPr>
          <p:cNvPr id="15" name="右大括弧 14">
            <a:extLst>
              <a:ext uri="{FF2B5EF4-FFF2-40B4-BE49-F238E27FC236}">
                <a16:creationId xmlns:a16="http://schemas.microsoft.com/office/drawing/2014/main" id="{3694B79B-D620-1E28-5C6F-22F60D2D483E}"/>
              </a:ext>
            </a:extLst>
          </p:cNvPr>
          <p:cNvSpPr/>
          <p:nvPr/>
        </p:nvSpPr>
        <p:spPr>
          <a:xfrm rot="5400000">
            <a:off x="5782794" y="3243034"/>
            <a:ext cx="496420" cy="197223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5869344-49FE-6EF6-9548-F43D40AD9757}"/>
              </a:ext>
            </a:extLst>
          </p:cNvPr>
          <p:cNvSpPr txBox="1"/>
          <p:nvPr/>
        </p:nvSpPr>
        <p:spPr>
          <a:xfrm>
            <a:off x="5616389" y="4612299"/>
            <a:ext cx="1299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201nt</a:t>
            </a:r>
            <a:endParaRPr kumimoji="1" lang="zh-TW" altLang="en-US" dirty="0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6800F985-FF96-0963-5B78-F19DF387DDEF}"/>
              </a:ext>
            </a:extLst>
          </p:cNvPr>
          <p:cNvCxnSpPr>
            <a:cxnSpLocks/>
          </p:cNvCxnSpPr>
          <p:nvPr/>
        </p:nvCxnSpPr>
        <p:spPr>
          <a:xfrm flipH="1">
            <a:off x="5945841" y="3782829"/>
            <a:ext cx="11205" cy="2554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0F40775-BBF3-EBE4-2001-C6F32B266F6B}"/>
              </a:ext>
            </a:extLst>
          </p:cNvPr>
          <p:cNvSpPr txBox="1"/>
          <p:nvPr/>
        </p:nvSpPr>
        <p:spPr>
          <a:xfrm>
            <a:off x="5737411" y="3379417"/>
            <a:ext cx="524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TIS</a:t>
            </a:r>
            <a:endParaRPr kumimoji="1"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5C6388A-EFFE-994F-6548-EA405E476187}"/>
              </a:ext>
            </a:extLst>
          </p:cNvPr>
          <p:cNvSpPr txBox="1"/>
          <p:nvPr/>
        </p:nvSpPr>
        <p:spPr>
          <a:xfrm>
            <a:off x="10237696" y="2988946"/>
            <a:ext cx="1656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Select</a:t>
            </a:r>
            <a:r>
              <a:rPr kumimoji="1" lang="zh-TW" altLang="en-US" dirty="0"/>
              <a:t> </a:t>
            </a:r>
            <a:r>
              <a:rPr kumimoji="1" lang="en-US" altLang="zh-TW" dirty="0"/>
              <a:t>sample</a:t>
            </a:r>
            <a:r>
              <a:rPr kumimoji="1" lang="zh-TW" altLang="en-US" dirty="0"/>
              <a:t> </a:t>
            </a:r>
            <a:r>
              <a:rPr kumimoji="1" lang="en-US" altLang="zh-TW" dirty="0"/>
              <a:t>if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prediction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changed</a:t>
            </a:r>
            <a:endParaRPr kumimoji="1" lang="zh-TW" altLang="en-US" dirty="0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515A8D19-845E-59BC-0CBB-1C80D425C7EC}"/>
              </a:ext>
            </a:extLst>
          </p:cNvPr>
          <p:cNvCxnSpPr>
            <a:stCxn id="4" idx="3"/>
            <a:endCxn id="19" idx="1"/>
          </p:cNvCxnSpPr>
          <p:nvPr/>
        </p:nvCxnSpPr>
        <p:spPr>
          <a:xfrm>
            <a:off x="9560859" y="2989871"/>
            <a:ext cx="676837" cy="4607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07A5BBFB-6A0D-9DC6-76E0-16E8749897E7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9572064" y="3450611"/>
            <a:ext cx="665632" cy="4599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114F695-B2A6-E95A-9B30-C445AAA25097}"/>
              </a:ext>
            </a:extLst>
          </p:cNvPr>
          <p:cNvSpPr txBox="1"/>
          <p:nvPr/>
        </p:nvSpPr>
        <p:spPr>
          <a:xfrm>
            <a:off x="5075779" y="5301113"/>
            <a:ext cx="1491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Replace</a:t>
            </a:r>
            <a:r>
              <a:rPr kumimoji="1" lang="zh-TW" altLang="en-US" dirty="0"/>
              <a:t> </a:t>
            </a:r>
            <a:r>
              <a:rPr kumimoji="1" lang="en-US" altLang="zh-TW" dirty="0"/>
              <a:t>to</a:t>
            </a:r>
            <a:r>
              <a:rPr kumimoji="1" lang="zh-TW" altLang="en-US" dirty="0"/>
              <a:t> </a:t>
            </a:r>
            <a:r>
              <a:rPr kumimoji="1" lang="en-US" altLang="zh-TW" dirty="0"/>
              <a:t>[MASK]</a:t>
            </a:r>
            <a:r>
              <a:rPr kumimoji="1" lang="zh-TW" altLang="en-US" dirty="0"/>
              <a:t> </a:t>
            </a:r>
            <a:r>
              <a:rPr kumimoji="1" lang="en-US" altLang="zh-TW" dirty="0"/>
              <a:t>token</a:t>
            </a:r>
            <a:endParaRPr kumimoji="1" lang="zh-TW" altLang="en-US" dirty="0"/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407FE637-2BCE-435C-792F-799079DBD075}"/>
              </a:ext>
            </a:extLst>
          </p:cNvPr>
          <p:cNvCxnSpPr>
            <a:cxnSpLocks/>
          </p:cNvCxnSpPr>
          <p:nvPr/>
        </p:nvCxnSpPr>
        <p:spPr>
          <a:xfrm flipH="1" flipV="1">
            <a:off x="4338917" y="4069559"/>
            <a:ext cx="992044" cy="1263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407CA5FA-EEC1-5D2B-F2BF-1B8590304AD9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261846" y="3994360"/>
            <a:ext cx="1394012" cy="13386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9898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id="{4F62D2B3-C61B-2095-CA8A-8E6B82DAD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019" y="2287936"/>
            <a:ext cx="11309395" cy="337370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94F8B1E-56E0-BA9C-DC17-5B059BC58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Token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Contribution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Masking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out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central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201 Token as Baseline</a:t>
            </a:r>
            <a:endParaRPr kumimoji="1"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F1A1EC-D454-F0E3-146B-E6DD3F16BC12}"/>
              </a:ext>
            </a:extLst>
          </p:cNvPr>
          <p:cNvSpPr/>
          <p:nvPr/>
        </p:nvSpPr>
        <p:spPr>
          <a:xfrm>
            <a:off x="621019" y="3446233"/>
            <a:ext cx="11309395" cy="5285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A761483-62C8-0CDA-42B7-86A54E1EF1FC}"/>
              </a:ext>
            </a:extLst>
          </p:cNvPr>
          <p:cNvSpPr txBox="1"/>
          <p:nvPr/>
        </p:nvSpPr>
        <p:spPr>
          <a:xfrm>
            <a:off x="261586" y="5338915"/>
            <a:ext cx="2855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201</a:t>
            </a:r>
            <a:r>
              <a:rPr kumimoji="1" lang="zh-TW" altLang="en-US" dirty="0"/>
              <a:t> </a:t>
            </a:r>
            <a:r>
              <a:rPr kumimoji="1" lang="en-US" altLang="zh-TW" dirty="0"/>
              <a:t>flanking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region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(will</a:t>
            </a:r>
            <a:r>
              <a:rPr kumimoji="1" lang="zh-TW" altLang="en-US" dirty="0"/>
              <a:t> </a:t>
            </a:r>
            <a:r>
              <a:rPr kumimoji="1" lang="en-US" altLang="zh-TW" dirty="0"/>
              <a:t>show</a:t>
            </a:r>
            <a:r>
              <a:rPr kumimoji="1" lang="zh-TW" altLang="en-US" dirty="0"/>
              <a:t> </a:t>
            </a:r>
            <a:r>
              <a:rPr kumimoji="1" lang="en-US" altLang="zh-TW" dirty="0"/>
              <a:t>no</a:t>
            </a:r>
            <a:r>
              <a:rPr kumimoji="1" lang="zh-TW" altLang="en-US" dirty="0"/>
              <a:t> </a:t>
            </a:r>
            <a:r>
              <a:rPr kumimoji="1" lang="en-US" altLang="zh-TW" dirty="0"/>
              <a:t>attribution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since</a:t>
            </a:r>
            <a:r>
              <a:rPr kumimoji="1" lang="zh-TW" altLang="en-US" dirty="0"/>
              <a:t> </a:t>
            </a:r>
            <a:r>
              <a:rPr kumimoji="1" lang="en-US" altLang="zh-TW" dirty="0"/>
              <a:t>this</a:t>
            </a:r>
            <a:r>
              <a:rPr kumimoji="1" lang="zh-TW" altLang="en-US" dirty="0"/>
              <a:t> </a:t>
            </a:r>
            <a:r>
              <a:rPr kumimoji="1" lang="en-US" altLang="zh-TW" dirty="0"/>
              <a:t>region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server</a:t>
            </a:r>
            <a:r>
              <a:rPr kumimoji="1" lang="zh-TW" altLang="en-US" dirty="0"/>
              <a:t> </a:t>
            </a:r>
            <a:r>
              <a:rPr kumimoji="1" lang="en-US" altLang="zh-TW" dirty="0"/>
              <a:t>as</a:t>
            </a:r>
            <a:r>
              <a:rPr kumimoji="1" lang="zh-TW" altLang="en-US" dirty="0"/>
              <a:t> </a:t>
            </a:r>
            <a:r>
              <a:rPr kumimoji="1" lang="en-US" altLang="zh-TW" dirty="0"/>
              <a:t>baseline)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5A0A86C-44F7-2852-576F-BF4A4E2F7832}"/>
              </a:ext>
            </a:extLst>
          </p:cNvPr>
          <p:cNvSpPr txBox="1"/>
          <p:nvPr/>
        </p:nvSpPr>
        <p:spPr>
          <a:xfrm>
            <a:off x="1152938" y="17127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/>
              <a:t>Predict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Positive</a:t>
            </a:r>
            <a:r>
              <a:rPr kumimoji="1" lang="zh-TW" altLang="en-US" dirty="0"/>
              <a:t> </a:t>
            </a:r>
            <a:r>
              <a:rPr kumimoji="1" lang="en-US" altLang="zh-TW" dirty="0"/>
              <a:t>while</a:t>
            </a:r>
            <a:r>
              <a:rPr kumimoji="1" lang="zh-TW" altLang="en-US" dirty="0"/>
              <a:t> </a:t>
            </a:r>
            <a:r>
              <a:rPr kumimoji="1" lang="en-US" altLang="zh-TW" dirty="0"/>
              <a:t>baseline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predict</a:t>
            </a:r>
            <a:r>
              <a:rPr kumimoji="1" lang="zh-TW" altLang="en-US" dirty="0"/>
              <a:t> </a:t>
            </a:r>
            <a:r>
              <a:rPr kumimoji="1" lang="en-US" altLang="zh-TW" dirty="0"/>
              <a:t>negative</a:t>
            </a:r>
            <a:endParaRPr lang="zh-TW" altLang="en-US" dirty="0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680D64A2-8388-FE49-5CBD-263595B1D93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403797" y="3974789"/>
            <a:ext cx="285340" cy="13641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A3BB5CCC-AE5F-A179-3B8B-0951D442042B}"/>
              </a:ext>
            </a:extLst>
          </p:cNvPr>
          <p:cNvSpPr/>
          <p:nvPr/>
        </p:nvSpPr>
        <p:spPr>
          <a:xfrm>
            <a:off x="9436231" y="4487159"/>
            <a:ext cx="367645" cy="2828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673250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756A45-4C25-1505-C473-34FFB5EA7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Token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Contribution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Masking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out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central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201 Token as Baseline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40935C07-9DF5-7C14-22C4-10DA0C7A52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4771" y="2408775"/>
            <a:ext cx="10515600" cy="313690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F8AA3A7-0EBF-D243-FEFE-B62F29C5D875}"/>
              </a:ext>
            </a:extLst>
          </p:cNvPr>
          <p:cNvSpPr/>
          <p:nvPr/>
        </p:nvSpPr>
        <p:spPr>
          <a:xfrm>
            <a:off x="1232450" y="3578087"/>
            <a:ext cx="10320130" cy="3578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800DB6-12B1-5B93-B0D9-4392BCEC6F6F}"/>
              </a:ext>
            </a:extLst>
          </p:cNvPr>
          <p:cNvSpPr txBox="1"/>
          <p:nvPr/>
        </p:nvSpPr>
        <p:spPr>
          <a:xfrm>
            <a:off x="106016" y="3605457"/>
            <a:ext cx="1046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baseline</a:t>
            </a:r>
            <a:endParaRPr kumimoji="1"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4C4D74-9F25-4B46-4BE1-89480E3395CC}"/>
              </a:ext>
            </a:extLst>
          </p:cNvPr>
          <p:cNvSpPr/>
          <p:nvPr/>
        </p:nvSpPr>
        <p:spPr>
          <a:xfrm>
            <a:off x="8650014" y="3269403"/>
            <a:ext cx="315311" cy="298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BA3E88D-3C6C-3712-F2B9-8BDF05A92F54}"/>
              </a:ext>
            </a:extLst>
          </p:cNvPr>
          <p:cNvSpPr txBox="1"/>
          <p:nvPr/>
        </p:nvSpPr>
        <p:spPr>
          <a:xfrm>
            <a:off x="8650014" y="1701198"/>
            <a:ext cx="3268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Upstream</a:t>
            </a:r>
            <a:r>
              <a:rPr kumimoji="1" lang="zh-TW" altLang="en-US" dirty="0"/>
              <a:t> </a:t>
            </a:r>
            <a:r>
              <a:rPr kumimoji="1" lang="en-US" altLang="zh-TW" dirty="0"/>
              <a:t>start</a:t>
            </a:r>
            <a:r>
              <a:rPr kumimoji="1" lang="zh-TW" altLang="en-US" dirty="0"/>
              <a:t> </a:t>
            </a:r>
            <a:r>
              <a:rPr kumimoji="1" lang="en-US" altLang="zh-TW" dirty="0"/>
              <a:t>codon</a:t>
            </a:r>
            <a:r>
              <a:rPr kumimoji="1" lang="zh-TW" altLang="en-US" dirty="0"/>
              <a:t> </a:t>
            </a:r>
            <a:r>
              <a:rPr kumimoji="1" lang="en-US" altLang="zh-TW" dirty="0"/>
              <a:t>(?)</a:t>
            </a:r>
            <a:endParaRPr kumimoji="1" lang="zh-TW" altLang="en-US" dirty="0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696D4B2B-72D1-0D32-EBC5-FDBEE76D4250}"/>
              </a:ext>
            </a:extLst>
          </p:cNvPr>
          <p:cNvCxnSpPr>
            <a:endCxn id="8" idx="2"/>
          </p:cNvCxnSpPr>
          <p:nvPr/>
        </p:nvCxnSpPr>
        <p:spPr>
          <a:xfrm flipV="1">
            <a:off x="8807669" y="2070530"/>
            <a:ext cx="1476704" cy="11988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F37A698-02A4-5421-B354-8730D159BAE7}"/>
              </a:ext>
            </a:extLst>
          </p:cNvPr>
          <p:cNvSpPr txBox="1"/>
          <p:nvPr/>
        </p:nvSpPr>
        <p:spPr>
          <a:xfrm>
            <a:off x="1152938" y="17127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/>
              <a:t>Predict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Negative</a:t>
            </a:r>
            <a:r>
              <a:rPr kumimoji="1" lang="zh-TW" altLang="en-US" dirty="0"/>
              <a:t> </a:t>
            </a:r>
            <a:r>
              <a:rPr kumimoji="1" lang="en-US" altLang="zh-TW" dirty="0"/>
              <a:t>while</a:t>
            </a:r>
            <a:r>
              <a:rPr kumimoji="1" lang="zh-TW" altLang="en-US" dirty="0"/>
              <a:t> </a:t>
            </a:r>
            <a:r>
              <a:rPr kumimoji="1" lang="en-US" altLang="zh-TW" dirty="0"/>
              <a:t>baseline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predict</a:t>
            </a:r>
            <a:r>
              <a:rPr kumimoji="1" lang="zh-TW" altLang="en-US" dirty="0"/>
              <a:t> </a:t>
            </a:r>
            <a:r>
              <a:rPr kumimoji="1" lang="en-US" altLang="zh-TW" dirty="0"/>
              <a:t>positive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02257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60C420-8681-A81A-F6B4-CD8FC184D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Conclusion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on</a:t>
            </a:r>
            <a:r>
              <a:rPr kumimoji="1" lang="zh-TW" altLang="en-US" dirty="0"/>
              <a:t> </a:t>
            </a:r>
            <a:r>
              <a:rPr kumimoji="1" lang="en-US" altLang="zh-TW" dirty="0"/>
              <a:t>Integrate</a:t>
            </a:r>
            <a:r>
              <a:rPr kumimoji="1" lang="zh-TW" altLang="en-US" dirty="0"/>
              <a:t> </a:t>
            </a:r>
            <a:r>
              <a:rPr kumimoji="1" lang="en-US" altLang="zh-TW" dirty="0"/>
              <a:t>Gradient</a:t>
            </a:r>
            <a:r>
              <a:rPr kumimoji="1" lang="zh-TW" altLang="en-US" dirty="0"/>
              <a:t> </a:t>
            </a:r>
            <a:r>
              <a:rPr kumimoji="1" lang="en-US" altLang="zh-TW" dirty="0"/>
              <a:t>Data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4A40AF-C934-A81E-2660-E6529B551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難以收斂，多數的</a:t>
            </a:r>
            <a:r>
              <a:rPr kumimoji="1" lang="en-US" altLang="zh-TW" dirty="0"/>
              <a:t>baseline</a:t>
            </a:r>
            <a:r>
              <a:rPr kumimoji="1" lang="zh-TW" altLang="en-US" dirty="0"/>
              <a:t>方法不奏效，唯一奏效的</a:t>
            </a:r>
            <a:r>
              <a:rPr kumimoji="1" lang="en-US" altLang="zh-TW" dirty="0"/>
              <a:t>baseline(Mask</a:t>
            </a:r>
            <a:r>
              <a:rPr kumimoji="1" lang="zh-TW" altLang="en-US" dirty="0"/>
              <a:t> </a:t>
            </a:r>
            <a:r>
              <a:rPr kumimoji="1" lang="en-US" altLang="zh-TW" dirty="0"/>
              <a:t>token)</a:t>
            </a:r>
            <a:r>
              <a:rPr kumimoji="1" lang="zh-TW" altLang="en-US" dirty="0"/>
              <a:t>也只有在非常高的</a:t>
            </a:r>
            <a:r>
              <a:rPr kumimoji="1" lang="en-US" altLang="zh-TW" dirty="0"/>
              <a:t>step</a:t>
            </a:r>
            <a:r>
              <a:rPr kumimoji="1" lang="zh-TW" altLang="en-US" dirty="0"/>
              <a:t>數才能讓</a:t>
            </a:r>
            <a:r>
              <a:rPr kumimoji="1" lang="en-US" altLang="zh-TW" dirty="0"/>
              <a:t>relative</a:t>
            </a:r>
            <a:r>
              <a:rPr kumimoji="1" lang="zh-TW" altLang="en-US" dirty="0"/>
              <a:t> </a:t>
            </a:r>
            <a:r>
              <a:rPr kumimoji="1" lang="en-US" altLang="zh-TW" dirty="0"/>
              <a:t>delta</a:t>
            </a:r>
            <a:r>
              <a:rPr kumimoji="1" lang="zh-TW" altLang="en-US" dirty="0"/>
              <a:t>接近</a:t>
            </a:r>
            <a:r>
              <a:rPr kumimoji="1" lang="en-US" altLang="zh-TW" dirty="0"/>
              <a:t>0.1</a:t>
            </a:r>
          </a:p>
          <a:p>
            <a:r>
              <a:rPr kumimoji="1" lang="zh-TW" altLang="en-US" dirty="0"/>
              <a:t>若以整個</a:t>
            </a:r>
            <a:r>
              <a:rPr kumimoji="1" lang="en-US" altLang="zh-TW" dirty="0"/>
              <a:t>sequence</a:t>
            </a:r>
            <a:r>
              <a:rPr kumimoji="1" lang="zh-TW" altLang="en-US" dirty="0"/>
              <a:t>作為</a:t>
            </a:r>
            <a:r>
              <a:rPr kumimoji="1" lang="en-US" altLang="zh-TW" dirty="0"/>
              <a:t>baseline</a:t>
            </a:r>
            <a:r>
              <a:rPr kumimoji="1" lang="zh-TW" altLang="en-US" dirty="0"/>
              <a:t>，可看到主要貢獻在分類判斷的位置會是靠</a:t>
            </a:r>
            <a:r>
              <a:rPr kumimoji="1" lang="en-US" altLang="zh-TW" dirty="0"/>
              <a:t>TIS</a:t>
            </a:r>
            <a:r>
              <a:rPr kumimoji="1" lang="zh-TW" altLang="en-US" dirty="0"/>
              <a:t>鄰近的幾個</a:t>
            </a:r>
            <a:r>
              <a:rPr kumimoji="1" lang="en-US" altLang="zh-TW" dirty="0" err="1"/>
              <a:t>nt</a:t>
            </a:r>
            <a:r>
              <a:rPr kumimoji="1" lang="zh-TW" altLang="en-US" dirty="0"/>
              <a:t>，而</a:t>
            </a:r>
            <a:r>
              <a:rPr kumimoji="1" lang="en-US" altLang="zh-TW" dirty="0"/>
              <a:t>TIS</a:t>
            </a:r>
            <a:r>
              <a:rPr kumimoji="1" lang="zh-TW" altLang="en-US" dirty="0"/>
              <a:t> </a:t>
            </a:r>
            <a:r>
              <a:rPr kumimoji="1" lang="en-US" altLang="zh-TW" dirty="0"/>
              <a:t>(+0,</a:t>
            </a:r>
            <a:r>
              <a:rPr kumimoji="1" lang="zh-TW" altLang="en-US" dirty="0"/>
              <a:t> </a:t>
            </a:r>
            <a:r>
              <a:rPr kumimoji="1" lang="en-US" altLang="zh-TW" dirty="0"/>
              <a:t>+1</a:t>
            </a:r>
            <a:r>
              <a:rPr kumimoji="1" lang="zh-TW" altLang="en-US" dirty="0"/>
              <a:t> 這兩個位置的貢獻不大，這應該是跟</a:t>
            </a:r>
            <a:r>
              <a:rPr kumimoji="1" lang="en-US" altLang="zh-TW" dirty="0"/>
              <a:t>training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data</a:t>
            </a:r>
            <a:r>
              <a:rPr kumimoji="1" lang="zh-TW" altLang="en-US" dirty="0"/>
              <a:t> </a:t>
            </a:r>
            <a:r>
              <a:rPr kumimoji="1" lang="en-US" altLang="zh-TW" dirty="0"/>
              <a:t>set</a:t>
            </a:r>
            <a:r>
              <a:rPr kumimoji="1" lang="zh-TW" altLang="en-US" dirty="0"/>
              <a:t>已經預先篩選僅為幾個特定的</a:t>
            </a:r>
            <a:r>
              <a:rPr kumimoji="1" lang="en-US" altLang="zh-TW" dirty="0"/>
              <a:t>codon</a:t>
            </a:r>
            <a:r>
              <a:rPr kumimoji="1" lang="zh-TW" altLang="en-US" dirty="0"/>
              <a:t>有關）</a:t>
            </a:r>
            <a:endParaRPr kumimoji="1" lang="en-US" altLang="zh-TW" dirty="0"/>
          </a:p>
          <a:p>
            <a:r>
              <a:rPr kumimoji="1" lang="zh-TW" altLang="en-US" dirty="0"/>
              <a:t>若以只有提供中心</a:t>
            </a:r>
            <a:r>
              <a:rPr kumimoji="1" lang="en-US" altLang="zh-TW" dirty="0"/>
              <a:t>200nt</a:t>
            </a:r>
            <a:r>
              <a:rPr kumimoji="1" lang="zh-TW" altLang="en-US" dirty="0"/>
              <a:t>作為</a:t>
            </a:r>
            <a:r>
              <a:rPr kumimoji="1" lang="en-US" altLang="zh-TW" dirty="0"/>
              <a:t>baseline</a:t>
            </a:r>
            <a:r>
              <a:rPr kumimoji="1" lang="zh-TW" altLang="en-US" dirty="0"/>
              <a:t>，</a:t>
            </a:r>
            <a:r>
              <a:rPr kumimoji="1" lang="en-US" altLang="zh-TW" dirty="0"/>
              <a:t>extra</a:t>
            </a:r>
            <a:r>
              <a:rPr kumimoji="1" lang="zh-TW" altLang="en-US" dirty="0"/>
              <a:t> </a:t>
            </a:r>
            <a:r>
              <a:rPr kumimoji="1" lang="en-US" altLang="zh-TW" dirty="0"/>
              <a:t>region</a:t>
            </a:r>
            <a:r>
              <a:rPr kumimoji="1" lang="zh-TW" altLang="en-US" dirty="0"/>
              <a:t>的貢獻，</a:t>
            </a:r>
            <a:r>
              <a:rPr kumimoji="1" lang="en-US" altLang="zh-TW" dirty="0"/>
              <a:t>attribution</a:t>
            </a:r>
            <a:r>
              <a:rPr kumimoji="1" lang="zh-TW" altLang="en-US" dirty="0"/>
              <a:t>低於</a:t>
            </a:r>
            <a:r>
              <a:rPr kumimoji="1" lang="en-US" altLang="zh-TW" dirty="0"/>
              <a:t>0.1</a:t>
            </a:r>
            <a:r>
              <a:rPr kumimoji="1" lang="zh-TW" altLang="en-US" dirty="0"/>
              <a:t>的資料極少；此外序列會呈現許多個位置皆有正面和負面貢獻，目前還沒有觀察出</a:t>
            </a:r>
            <a:r>
              <a:rPr kumimoji="1" lang="en-US" altLang="zh-TW" dirty="0"/>
              <a:t>pattern</a:t>
            </a:r>
          </a:p>
        </p:txBody>
      </p:sp>
    </p:spTree>
    <p:extLst>
      <p:ext uri="{BB962C8B-B14F-4D97-AF65-F5344CB8AC3E}">
        <p14:creationId xmlns:p14="http://schemas.microsoft.com/office/powerpoint/2010/main" val="9430622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0189EB-8787-B91A-92CE-E2C0FCF56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Next</a:t>
            </a:r>
            <a:r>
              <a:rPr kumimoji="1" lang="zh-TW" altLang="en-US" dirty="0"/>
              <a:t> </a:t>
            </a:r>
            <a:r>
              <a:rPr kumimoji="1" lang="en-US" altLang="zh-TW" dirty="0"/>
              <a:t>Steps</a:t>
            </a:r>
            <a:r>
              <a:rPr kumimoji="1" lang="zh-TW" altLang="en-US" dirty="0"/>
              <a:t> </a:t>
            </a:r>
            <a:r>
              <a:rPr kumimoji="1" lang="en-US" altLang="zh-TW" dirty="0"/>
              <a:t>on Explanation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FF5781-3AA2-F8DC-B7AB-4032EC73E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Study</a:t>
            </a:r>
            <a:r>
              <a:rPr kumimoji="1" lang="zh-TW" altLang="en-US" dirty="0"/>
              <a:t> </a:t>
            </a:r>
            <a:r>
              <a:rPr kumimoji="1" lang="en-US" altLang="zh-TW" dirty="0"/>
              <a:t>other</a:t>
            </a:r>
            <a:r>
              <a:rPr kumimoji="1" lang="zh-TW" altLang="en-US" dirty="0"/>
              <a:t> </a:t>
            </a:r>
            <a:r>
              <a:rPr kumimoji="1" lang="en-US" altLang="zh-TW" dirty="0"/>
              <a:t>explanation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methods</a:t>
            </a:r>
          </a:p>
          <a:p>
            <a:pPr lvl="1"/>
            <a:r>
              <a:rPr kumimoji="1" lang="en-US" altLang="zh-TW" dirty="0"/>
              <a:t>Replacement / </a:t>
            </a:r>
          </a:p>
          <a:p>
            <a:r>
              <a:rPr kumimoji="1" lang="en-US" altLang="zh-TW" dirty="0"/>
              <a:t>Study the methods to investigate</a:t>
            </a:r>
            <a:r>
              <a:rPr kumimoji="1" lang="zh-TW" altLang="en-US" dirty="0"/>
              <a:t> </a:t>
            </a:r>
            <a:r>
              <a:rPr kumimoji="1" lang="en-US" altLang="zh-TW" dirty="0"/>
              <a:t>sequence</a:t>
            </a:r>
            <a:r>
              <a:rPr kumimoji="1" lang="zh-TW" altLang="en-US" dirty="0"/>
              <a:t> </a:t>
            </a:r>
            <a:r>
              <a:rPr kumimoji="1" lang="en-US" altLang="zh-TW" dirty="0"/>
              <a:t>pattern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1204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76028</TotalTime>
  <Words>1970</Words>
  <Application>Microsoft Macintosh PowerPoint</Application>
  <PresentationFormat>寬螢幕</PresentationFormat>
  <Paragraphs>587</Paragraphs>
  <Slides>31</Slides>
  <Notes>3</Notes>
  <HiddenSlides>1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41" baseType="lpstr">
      <vt:lpstr>新細明體</vt:lpstr>
      <vt:lpstr>Aptos</vt:lpstr>
      <vt:lpstr>Aptos Display</vt:lpstr>
      <vt:lpstr>Arial</vt:lpstr>
      <vt:lpstr>Calibri</vt:lpstr>
      <vt:lpstr>Consolas</vt:lpstr>
      <vt:lpstr>Helvetica</vt:lpstr>
      <vt:lpstr>Helvetica Neue</vt:lpstr>
      <vt:lpstr>Wingdings</vt:lpstr>
      <vt:lpstr>Office 佈景主題</vt:lpstr>
      <vt:lpstr>Progress Report – Model for TIS Identification by mRNA Sequence</vt:lpstr>
      <vt:lpstr>Idea</vt:lpstr>
      <vt:lpstr>Conclusions</vt:lpstr>
      <vt:lpstr>Dataset</vt:lpstr>
      <vt:lpstr>Model Training Goal</vt:lpstr>
      <vt:lpstr>Some Critical Choices</vt:lpstr>
      <vt:lpstr>Context Window Handling – to centralize TIS site in each sample</vt:lpstr>
      <vt:lpstr>RiNALMo</vt:lpstr>
      <vt:lpstr>Model Schema</vt:lpstr>
      <vt:lpstr>Sample Grouping</vt:lpstr>
      <vt:lpstr>Sample Grouping Based on Sequence Similarity</vt:lpstr>
      <vt:lpstr>FT on Pretrained RNA model -- RiNALMo</vt:lpstr>
      <vt:lpstr>LoRA</vt:lpstr>
      <vt:lpstr>Training / Evaluation Flow (two variant)</vt:lpstr>
      <vt:lpstr>Performance  - Compare to TISCalling</vt:lpstr>
      <vt:lpstr>Performance between different context selection</vt:lpstr>
      <vt:lpstr>Group Split by Transcript or by Sequence-Similarity</vt:lpstr>
      <vt:lpstr>What larger context model focus on when comparing to smaller context model</vt:lpstr>
      <vt:lpstr>Integrated Gradient</vt:lpstr>
      <vt:lpstr>Hard to Converge by Mask Token</vt:lpstr>
      <vt:lpstr>Distribution of Delta  -- widely distributed</vt:lpstr>
      <vt:lpstr>Have to Improve Convergence Problem</vt:lpstr>
      <vt:lpstr>Heatmap of Positive Prediction Sample on Integrate Gradient Attributions</vt:lpstr>
      <vt:lpstr>“[MASK]” Token as Baseline, Token Contribution to Negative Prediction</vt:lpstr>
      <vt:lpstr>“[MASK]” Token as Baseline, Token Contribution to Positive Prediction</vt:lpstr>
      <vt:lpstr>Select samples with prediction changed when provide larger context</vt:lpstr>
      <vt:lpstr>Baseline for Extra Context Contribution</vt:lpstr>
      <vt:lpstr>Token Contribution of Masking out of central 201 Token as Baseline</vt:lpstr>
      <vt:lpstr>Token Contribution of Masking out of central 201 Token as Baseline</vt:lpstr>
      <vt:lpstr>Conclusion on Integrate Gradient Data</vt:lpstr>
      <vt:lpstr>Next Steps on Explanation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邦齊 林</dc:creator>
  <cp:lastModifiedBy>邦齊 林</cp:lastModifiedBy>
  <cp:revision>2</cp:revision>
  <dcterms:created xsi:type="dcterms:W3CDTF">2026-04-14T05:55:45Z</dcterms:created>
  <dcterms:modified xsi:type="dcterms:W3CDTF">2026-09-03T14:35:09Z</dcterms:modified>
</cp:coreProperties>
</file>